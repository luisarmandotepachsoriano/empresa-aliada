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mando ..." initials="a." lastIdx="2" clrIdx="0">
    <p:extLst>
      <p:ext uri="{19B8F6BF-5375-455C-9EA6-DF929625EA0E}">
        <p15:presenceInfo xmlns:p15="http://schemas.microsoft.com/office/powerpoint/2012/main" userId="armando ..."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1BDE22-A30C-44FC-A184-BB0B62A7E7E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2561CFF-7F35-4F79-AB4A-322C9B5E6A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4291F4E-C160-4DDD-BFAB-B53DE4FC3199}"/>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5" name="Marcador de pie de página 4">
            <a:extLst>
              <a:ext uri="{FF2B5EF4-FFF2-40B4-BE49-F238E27FC236}">
                <a16:creationId xmlns:a16="http://schemas.microsoft.com/office/drawing/2014/main" id="{2F6E477C-19A8-4268-80D5-BAE51CF2D60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8662777-B561-46A7-8AC5-654659CCB631}"/>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2695446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C3CA65-625C-4752-914A-53F6C555582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80381D9-3C69-4C19-BBC9-D21A48F6267F}"/>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02B8D8F-8BA6-4B5E-B3C1-58DEC971B106}"/>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5" name="Marcador de pie de página 4">
            <a:extLst>
              <a:ext uri="{FF2B5EF4-FFF2-40B4-BE49-F238E27FC236}">
                <a16:creationId xmlns:a16="http://schemas.microsoft.com/office/drawing/2014/main" id="{F8771393-F04E-4135-AA15-044B5C5F004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C06EC5-98EA-4172-B957-E88CE64A78D4}"/>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3631124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E1145A-3135-43BF-ADC7-D82F42B8250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31D484D-284C-4F94-9940-2E39F24C84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CC10F259-F0B2-48DC-9AB9-7D388A69A67D}"/>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5" name="Marcador de pie de página 4">
            <a:extLst>
              <a:ext uri="{FF2B5EF4-FFF2-40B4-BE49-F238E27FC236}">
                <a16:creationId xmlns:a16="http://schemas.microsoft.com/office/drawing/2014/main" id="{AA47FA00-0EA9-4B50-B4CA-DEF2891FCF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2CA923A-7A82-43E9-B1CF-73B6B2F8EEDC}"/>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628145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968B2D-DD2F-4275-866D-248D8122C3E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A172B87-81D4-4748-BD9C-93C5AB6A6675}"/>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916F4F3-F04F-4F23-904C-645A144B3D12}"/>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8B8EE2D-3A58-43F8-A126-30F4C9207BF0}"/>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6" name="Marcador de pie de página 5">
            <a:extLst>
              <a:ext uri="{FF2B5EF4-FFF2-40B4-BE49-F238E27FC236}">
                <a16:creationId xmlns:a16="http://schemas.microsoft.com/office/drawing/2014/main" id="{33CF5099-CE01-41BA-97F3-34A17BEBC679}"/>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8B3E1E1-1F3F-4196-AD90-6F625B07C2BB}"/>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1646422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48F404-1799-40EA-97F7-7EA43157C62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66580B5-4D6D-4360-9979-AFE5D8CE80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0611E341-18A9-4098-AEC9-0A15113F9474}"/>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4ACE84A-C06D-4B1D-86D2-C3205336D0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9B22EBFD-A95B-4771-A8D1-9EC91EBEFA9F}"/>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BDF68E5-9356-4A96-B179-38F5BC5C6B89}"/>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8" name="Marcador de pie de página 7">
            <a:extLst>
              <a:ext uri="{FF2B5EF4-FFF2-40B4-BE49-F238E27FC236}">
                <a16:creationId xmlns:a16="http://schemas.microsoft.com/office/drawing/2014/main" id="{0683D99A-84F8-4A12-9BFC-09DF674A18E4}"/>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C7D84F96-860F-4FC4-9AA7-BCFADEA91EC8}"/>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1539089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F33DC2-1C0A-4558-BEF8-A015979DF0F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F0F33F4-11AA-462D-8354-69B47DCE9A56}"/>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4" name="Marcador de pie de página 3">
            <a:extLst>
              <a:ext uri="{FF2B5EF4-FFF2-40B4-BE49-F238E27FC236}">
                <a16:creationId xmlns:a16="http://schemas.microsoft.com/office/drawing/2014/main" id="{2B0CE241-E9E3-4BEA-9DC5-A2C4F694944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8FF493A-A3AC-4B83-9B69-5682DC4ACE21}"/>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2510888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2B6A0CE-F120-4814-B7ED-1BB4946D1960}"/>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3" name="Marcador de pie de página 2">
            <a:extLst>
              <a:ext uri="{FF2B5EF4-FFF2-40B4-BE49-F238E27FC236}">
                <a16:creationId xmlns:a16="http://schemas.microsoft.com/office/drawing/2014/main" id="{55CCE249-3CC9-4D33-B047-299C89BE3CBC}"/>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293E0439-F62A-42B5-AFCC-6BA3D59D544B}"/>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755086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9AF6F8-3972-447F-9487-5038CA77DEA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13C5220-D2E8-497D-B38F-D3F6797A68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CA3DB91D-D646-4C9F-BD1A-888B033E2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60FE5DBA-ED2D-41D1-9643-593EF8F54E54}"/>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6" name="Marcador de pie de página 5">
            <a:extLst>
              <a:ext uri="{FF2B5EF4-FFF2-40B4-BE49-F238E27FC236}">
                <a16:creationId xmlns:a16="http://schemas.microsoft.com/office/drawing/2014/main" id="{11902729-95D6-43A0-A0E3-924938DA241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9BD595F-4103-42B6-9536-9C1AEFACD797}"/>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3761666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0D404B-223A-41F4-A0DC-47C871462D9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0AD321DE-B448-4FA6-BA17-74ED687858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3BFF866-B7F8-47E0-8FCD-0E9C0EB1CF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46F48AA1-0616-462A-8BFF-9CA418A0F0C0}"/>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6" name="Marcador de pie de página 5">
            <a:extLst>
              <a:ext uri="{FF2B5EF4-FFF2-40B4-BE49-F238E27FC236}">
                <a16:creationId xmlns:a16="http://schemas.microsoft.com/office/drawing/2014/main" id="{CC50ACF1-C34D-41A5-AA37-1119A54EFFD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C29DD04-572F-4BA7-8B39-1929F429A5AD}"/>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2640399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A17E75-E21F-46F2-8268-2A4B63C803F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0CD87A5-17C4-4121-94C0-B1B05F06DD61}"/>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0960B2F-D160-43AC-9502-BD084E415996}"/>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5" name="Marcador de pie de página 4">
            <a:extLst>
              <a:ext uri="{FF2B5EF4-FFF2-40B4-BE49-F238E27FC236}">
                <a16:creationId xmlns:a16="http://schemas.microsoft.com/office/drawing/2014/main" id="{61DD38E9-1679-41FB-802E-3CF30CFE66E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31F4C9B-6E00-4634-85FF-A1A8D28B1530}"/>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1873539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1F957C6-FEC0-4B03-9955-2377AAF6CB3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CAD26795-65C0-455F-B7A0-057885416211}"/>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8CD2C2C-7EED-4D74-9DEE-802092FE67CD}"/>
              </a:ext>
            </a:extLst>
          </p:cNvPr>
          <p:cNvSpPr>
            <a:spLocks noGrp="1"/>
          </p:cNvSpPr>
          <p:nvPr>
            <p:ph type="dt" sz="half" idx="10"/>
          </p:nvPr>
        </p:nvSpPr>
        <p:spPr/>
        <p:txBody>
          <a:bodyPr/>
          <a:lstStyle/>
          <a:p>
            <a:fld id="{B9A2874E-74D0-4E17-AA52-91FC93070B80}" type="datetimeFigureOut">
              <a:rPr lang="es-MX" smtClean="0"/>
              <a:t>14/09/2026</a:t>
            </a:fld>
            <a:endParaRPr lang="es-MX"/>
          </a:p>
        </p:txBody>
      </p:sp>
      <p:sp>
        <p:nvSpPr>
          <p:cNvPr id="5" name="Marcador de pie de página 4">
            <a:extLst>
              <a:ext uri="{FF2B5EF4-FFF2-40B4-BE49-F238E27FC236}">
                <a16:creationId xmlns:a16="http://schemas.microsoft.com/office/drawing/2014/main" id="{4E715C31-AB57-4AEF-8553-5DF50BD373F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BCB95D2-0FB8-48EA-92B0-51CE576BFA52}"/>
              </a:ext>
            </a:extLst>
          </p:cNvPr>
          <p:cNvSpPr>
            <a:spLocks noGrp="1"/>
          </p:cNvSpPr>
          <p:nvPr>
            <p:ph type="sldNum" sz="quarter" idx="12"/>
          </p:nvPr>
        </p:nvSpPr>
        <p:spPr/>
        <p:txBody>
          <a:bodyPr/>
          <a:lstStyle/>
          <a:p>
            <a:fld id="{E98480C4-0B02-4C77-A61E-E4211000EBBA}" type="slidenum">
              <a:rPr lang="es-MX" smtClean="0"/>
              <a:t>‹Nº›</a:t>
            </a:fld>
            <a:endParaRPr lang="es-MX"/>
          </a:p>
        </p:txBody>
      </p:sp>
    </p:spTree>
    <p:extLst>
      <p:ext uri="{BB962C8B-B14F-4D97-AF65-F5344CB8AC3E}">
        <p14:creationId xmlns:p14="http://schemas.microsoft.com/office/powerpoint/2010/main" val="2343643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3E4A349-006F-4EE8-ABFA-165BF4355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EFCCD22-28E8-4785-9485-FC9963B941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A80DC0C-9B2D-41D3-A9E4-6DFF4477E7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A2874E-74D0-4E17-AA52-91FC93070B80}" type="datetimeFigureOut">
              <a:rPr lang="es-MX" smtClean="0"/>
              <a:t>14/09/2026</a:t>
            </a:fld>
            <a:endParaRPr lang="es-MX"/>
          </a:p>
        </p:txBody>
      </p:sp>
      <p:sp>
        <p:nvSpPr>
          <p:cNvPr id="5" name="Marcador de pie de página 4">
            <a:extLst>
              <a:ext uri="{FF2B5EF4-FFF2-40B4-BE49-F238E27FC236}">
                <a16:creationId xmlns:a16="http://schemas.microsoft.com/office/drawing/2014/main" id="{0222BB97-8F9D-4AF0-A7BC-8094E2D91E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EF2BA34D-6A4E-465C-8753-2381604C13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8480C4-0B02-4C77-A61E-E4211000EBBA}" type="slidenum">
              <a:rPr lang="es-MX" smtClean="0"/>
              <a:t>‹Nº›</a:t>
            </a:fld>
            <a:endParaRPr lang="es-MX"/>
          </a:p>
        </p:txBody>
      </p:sp>
    </p:spTree>
    <p:extLst>
      <p:ext uri="{BB962C8B-B14F-4D97-AF65-F5344CB8AC3E}">
        <p14:creationId xmlns:p14="http://schemas.microsoft.com/office/powerpoint/2010/main" val="221287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D0F508-E003-4B0E-9420-F47372936DE6}"/>
              </a:ext>
            </a:extLst>
          </p:cNvPr>
          <p:cNvSpPr>
            <a:spLocks noGrp="1"/>
          </p:cNvSpPr>
          <p:nvPr>
            <p:ph type="ctrTitle"/>
          </p:nvPr>
        </p:nvSpPr>
        <p:spPr/>
        <p:txBody>
          <a:bodyPr/>
          <a:lstStyle/>
          <a:p>
            <a:r>
              <a:rPr lang="es-MX" dirty="0"/>
              <a:t>Proyecto de empresa aliada: Entrega Final</a:t>
            </a:r>
          </a:p>
        </p:txBody>
      </p:sp>
      <p:sp>
        <p:nvSpPr>
          <p:cNvPr id="3" name="Subtítulo 2">
            <a:extLst>
              <a:ext uri="{FF2B5EF4-FFF2-40B4-BE49-F238E27FC236}">
                <a16:creationId xmlns:a16="http://schemas.microsoft.com/office/drawing/2014/main" id="{C78E8C58-2606-4E54-8202-3EC5010C2EE5}"/>
              </a:ext>
            </a:extLst>
          </p:cNvPr>
          <p:cNvSpPr>
            <a:spLocks noGrp="1"/>
          </p:cNvSpPr>
          <p:nvPr>
            <p:ph type="subTitle" idx="1"/>
          </p:nvPr>
        </p:nvSpPr>
        <p:spPr/>
        <p:txBody>
          <a:bodyPr/>
          <a:lstStyle/>
          <a:p>
            <a:r>
              <a:rPr lang="es-MX" dirty="0"/>
              <a:t>Introducción del Proyecto</a:t>
            </a:r>
          </a:p>
          <a:p>
            <a:endParaRPr lang="es-MX" dirty="0"/>
          </a:p>
        </p:txBody>
      </p:sp>
    </p:spTree>
    <p:extLst>
      <p:ext uri="{BB962C8B-B14F-4D97-AF65-F5344CB8AC3E}">
        <p14:creationId xmlns:p14="http://schemas.microsoft.com/office/powerpoint/2010/main" val="1258430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1B2F04F-D0A1-499D-A955-A9A787E3382C}"/>
              </a:ext>
            </a:extLst>
          </p:cNvPr>
          <p:cNvSpPr>
            <a:spLocks noGrp="1"/>
          </p:cNvSpPr>
          <p:nvPr>
            <p:ph idx="1"/>
          </p:nvPr>
        </p:nvSpPr>
        <p:spPr/>
        <p:txBody>
          <a:bodyPr>
            <a:normAutofit fontScale="77500" lnSpcReduction="20000"/>
          </a:bodyPr>
          <a:lstStyle/>
          <a:p>
            <a:pPr algn="just"/>
            <a:r>
              <a:rPr lang="es-MX" dirty="0">
                <a:latin typeface="Arial" panose="020B0604020202020204" pitchFamily="34" charset="0"/>
                <a:cs typeface="Arial" panose="020B0604020202020204" pitchFamily="34" charset="0"/>
              </a:rPr>
              <a:t>El presente proyecto tiene como objetivo analizar el rendimiento histórico de ventas de una empresa de productos de consumo, con la finalidad de identificar patrones, tendencias y oportunidades que apoyen la toma de decisiones estratégicas.</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A partir de los datos disponibles se realizará un proceso integral de análisis, que incluirá limpieza y transformación de datos, análisis exploratorio, segmentación mediante técnicas de Machine </a:t>
            </a:r>
            <a:r>
              <a:rPr lang="es-MX" dirty="0" err="1">
                <a:latin typeface="Arial" panose="020B0604020202020204" pitchFamily="34" charset="0"/>
                <a:cs typeface="Arial" panose="020B0604020202020204" pitchFamily="34" charset="0"/>
              </a:rPr>
              <a:t>Learning</a:t>
            </a:r>
            <a:r>
              <a:rPr lang="es-MX" dirty="0">
                <a:latin typeface="Arial" panose="020B0604020202020204" pitchFamily="34" charset="0"/>
                <a:cs typeface="Arial" panose="020B0604020202020204" pitchFamily="34" charset="0"/>
              </a:rPr>
              <a:t> y generación de modelos predictivos para estimar ventas futuras.</a:t>
            </a:r>
          </a:p>
          <a:p>
            <a:pPr marL="0" indent="0" algn="just">
              <a:buNone/>
            </a:pPr>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Para el desarrollo del proyecto se utilizarán </a:t>
            </a:r>
            <a:r>
              <a:rPr lang="es-MX" b="1" dirty="0">
                <a:latin typeface="Arial" panose="020B0604020202020204" pitchFamily="34" charset="0"/>
                <a:cs typeface="Arial" panose="020B0604020202020204" pitchFamily="34" charset="0"/>
              </a:rPr>
              <a:t>Python</a:t>
            </a:r>
            <a:r>
              <a:rPr lang="es-MX" dirty="0">
                <a:latin typeface="Arial" panose="020B0604020202020204" pitchFamily="34" charset="0"/>
                <a:cs typeface="Arial" panose="020B0604020202020204" pitchFamily="34" charset="0"/>
              </a:rPr>
              <a:t>, </a:t>
            </a:r>
            <a:r>
              <a:rPr lang="es-MX" b="1" dirty="0">
                <a:latin typeface="Arial" panose="020B0604020202020204" pitchFamily="34" charset="0"/>
                <a:cs typeface="Arial" panose="020B0604020202020204" pitchFamily="34" charset="0"/>
              </a:rPr>
              <a:t>SQL Server</a:t>
            </a:r>
            <a:r>
              <a:rPr lang="es-MX" dirty="0">
                <a:latin typeface="Arial" panose="020B0604020202020204" pitchFamily="34" charset="0"/>
                <a:cs typeface="Arial" panose="020B0604020202020204" pitchFamily="34" charset="0"/>
              </a:rPr>
              <a:t> y </a:t>
            </a:r>
            <a:r>
              <a:rPr lang="es-MX" b="1" dirty="0" err="1">
                <a:latin typeface="Arial" panose="020B0604020202020204" pitchFamily="34" charset="0"/>
                <a:cs typeface="Arial" panose="020B0604020202020204" pitchFamily="34" charset="0"/>
              </a:rPr>
              <a:t>Power</a:t>
            </a:r>
            <a:r>
              <a:rPr lang="es-MX" b="1" dirty="0">
                <a:latin typeface="Arial" panose="020B0604020202020204" pitchFamily="34" charset="0"/>
                <a:cs typeface="Arial" panose="020B0604020202020204" pitchFamily="34" charset="0"/>
              </a:rPr>
              <a:t> BI</a:t>
            </a:r>
            <a:r>
              <a:rPr lang="es-MX" dirty="0">
                <a:latin typeface="Arial" panose="020B0604020202020204" pitchFamily="34" charset="0"/>
                <a:cs typeface="Arial" panose="020B0604020202020204" pitchFamily="34" charset="0"/>
              </a:rPr>
              <a:t>. Python será utilizado para el procesamiento, análisis y modelado de los datos; SQL Server para su almacenamiento y consulta; y </a:t>
            </a:r>
            <a:r>
              <a:rPr lang="es-MX" dirty="0" err="1">
                <a:latin typeface="Arial" panose="020B0604020202020204" pitchFamily="34" charset="0"/>
                <a:cs typeface="Arial" panose="020B0604020202020204" pitchFamily="34" charset="0"/>
              </a:rPr>
              <a:t>Power</a:t>
            </a:r>
            <a:r>
              <a:rPr lang="es-MX" dirty="0">
                <a:latin typeface="Arial" panose="020B0604020202020204" pitchFamily="34" charset="0"/>
                <a:cs typeface="Arial" panose="020B0604020202020204" pitchFamily="34" charset="0"/>
              </a:rPr>
              <a:t> BI para la construcción de visualizaciones y un </a:t>
            </a:r>
            <a:r>
              <a:rPr lang="es-MX" dirty="0" err="1">
                <a:latin typeface="Arial" panose="020B0604020202020204" pitchFamily="34" charset="0"/>
                <a:cs typeface="Arial" panose="020B0604020202020204" pitchFamily="34" charset="0"/>
              </a:rPr>
              <a:t>dashboard</a:t>
            </a:r>
            <a:r>
              <a:rPr lang="es-MX" dirty="0">
                <a:latin typeface="Arial" panose="020B0604020202020204" pitchFamily="34" charset="0"/>
                <a:cs typeface="Arial" panose="020B0604020202020204" pitchFamily="34" charset="0"/>
              </a:rPr>
              <a:t> que permita comunicar los principales resultados.</a:t>
            </a:r>
          </a:p>
          <a:p>
            <a:endParaRPr lang="es-MX" dirty="0"/>
          </a:p>
        </p:txBody>
      </p:sp>
    </p:spTree>
    <p:extLst>
      <p:ext uri="{BB962C8B-B14F-4D97-AF65-F5344CB8AC3E}">
        <p14:creationId xmlns:p14="http://schemas.microsoft.com/office/powerpoint/2010/main" val="929836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46D0B6-66A1-4644-AC01-6AA52849DAE0}"/>
              </a:ext>
            </a:extLst>
          </p:cNvPr>
          <p:cNvSpPr>
            <a:spLocks noGrp="1"/>
          </p:cNvSpPr>
          <p:nvPr>
            <p:ph type="title"/>
          </p:nvPr>
        </p:nvSpPr>
        <p:spPr/>
        <p:txBody>
          <a:bodyPr>
            <a:normAutofit/>
          </a:bodyPr>
          <a:lstStyle/>
          <a:p>
            <a:pPr algn="ctr"/>
            <a:r>
              <a:rPr lang="es-MX" sz="2800" dirty="0"/>
              <a:t>Análisis de ventas por marca en SQL</a:t>
            </a:r>
            <a:endParaRPr lang="es-MX" sz="2800" dirty="0">
              <a:latin typeface="+mn-lt"/>
            </a:endParaRPr>
          </a:p>
        </p:txBody>
      </p:sp>
      <p:pic>
        <p:nvPicPr>
          <p:cNvPr id="4" name="Marcador de contenido 3">
            <a:extLst>
              <a:ext uri="{FF2B5EF4-FFF2-40B4-BE49-F238E27FC236}">
                <a16:creationId xmlns:a16="http://schemas.microsoft.com/office/drawing/2014/main" id="{0797B3FD-AC6B-44C4-A46D-15999E6C8E05}"/>
              </a:ext>
            </a:extLst>
          </p:cNvPr>
          <p:cNvPicPr>
            <a:picLocks noGrp="1" noChangeAspect="1"/>
          </p:cNvPicPr>
          <p:nvPr>
            <p:ph idx="1"/>
          </p:nvPr>
        </p:nvPicPr>
        <p:blipFill>
          <a:blip r:embed="rId2"/>
          <a:stretch>
            <a:fillRect/>
          </a:stretch>
        </p:blipFill>
        <p:spPr>
          <a:xfrm>
            <a:off x="109330" y="1346131"/>
            <a:ext cx="7739489" cy="4351338"/>
          </a:xfrm>
          <a:prstGeom prst="rect">
            <a:avLst/>
          </a:prstGeom>
        </p:spPr>
      </p:pic>
      <p:sp>
        <p:nvSpPr>
          <p:cNvPr id="5" name="CuadroTexto 4">
            <a:extLst>
              <a:ext uri="{FF2B5EF4-FFF2-40B4-BE49-F238E27FC236}">
                <a16:creationId xmlns:a16="http://schemas.microsoft.com/office/drawing/2014/main" id="{4F46978F-DDC1-4981-9B6C-6D99EE1E5C22}"/>
              </a:ext>
            </a:extLst>
          </p:cNvPr>
          <p:cNvSpPr txBox="1"/>
          <p:nvPr/>
        </p:nvSpPr>
        <p:spPr>
          <a:xfrm flipH="1">
            <a:off x="8285018" y="1346131"/>
            <a:ext cx="3546764" cy="1200329"/>
          </a:xfrm>
          <a:prstGeom prst="rect">
            <a:avLst/>
          </a:prstGeom>
          <a:noFill/>
        </p:spPr>
        <p:txBody>
          <a:bodyPr wrap="square" rtlCol="0">
            <a:spAutoFit/>
          </a:bodyPr>
          <a:lstStyle/>
          <a:p>
            <a:pPr algn="just"/>
            <a:r>
              <a:rPr lang="es-MX" dirty="0"/>
              <a:t>CLORALEX lidera las ventas con </a:t>
            </a:r>
            <a:r>
              <a:rPr lang="es-MX" b="1" dirty="0"/>
              <a:t>5.39 millones</a:t>
            </a:r>
            <a:r>
              <a:rPr lang="es-MX" dirty="0"/>
              <a:t>, seguida de VANISH con </a:t>
            </a:r>
            <a:r>
              <a:rPr lang="es-MX" b="1" dirty="0"/>
              <a:t>2.17 millones</a:t>
            </a:r>
            <a:r>
              <a:rPr lang="es-MX" dirty="0"/>
              <a:t> y CLOROX con </a:t>
            </a:r>
            <a:r>
              <a:rPr lang="es-MX" b="1" dirty="0"/>
              <a:t>1.37 millones</a:t>
            </a:r>
            <a:r>
              <a:rPr lang="es-MX" dirty="0"/>
              <a:t>.</a:t>
            </a:r>
          </a:p>
        </p:txBody>
      </p:sp>
    </p:spTree>
    <p:extLst>
      <p:ext uri="{BB962C8B-B14F-4D97-AF65-F5344CB8AC3E}">
        <p14:creationId xmlns:p14="http://schemas.microsoft.com/office/powerpoint/2010/main" val="4204083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99496A-1273-4622-84FA-78F994FBFD5A}"/>
              </a:ext>
            </a:extLst>
          </p:cNvPr>
          <p:cNvSpPr>
            <a:spLocks noGrp="1"/>
          </p:cNvSpPr>
          <p:nvPr>
            <p:ph type="title"/>
          </p:nvPr>
        </p:nvSpPr>
        <p:spPr/>
        <p:txBody>
          <a:bodyPr>
            <a:normAutofit/>
          </a:bodyPr>
          <a:lstStyle/>
          <a:p>
            <a:pPr algn="ctr"/>
            <a:r>
              <a:rPr lang="es-MX" sz="2800" dirty="0"/>
              <a:t>Análisis de ventas por región en SQL</a:t>
            </a:r>
          </a:p>
        </p:txBody>
      </p:sp>
      <p:pic>
        <p:nvPicPr>
          <p:cNvPr id="4" name="Marcador de contenido 3">
            <a:extLst>
              <a:ext uri="{FF2B5EF4-FFF2-40B4-BE49-F238E27FC236}">
                <a16:creationId xmlns:a16="http://schemas.microsoft.com/office/drawing/2014/main" id="{A3C23EC1-6677-4442-A00B-5FB04722F1FD}"/>
              </a:ext>
            </a:extLst>
          </p:cNvPr>
          <p:cNvPicPr>
            <a:picLocks noGrp="1" noChangeAspect="1"/>
          </p:cNvPicPr>
          <p:nvPr>
            <p:ph idx="1"/>
          </p:nvPr>
        </p:nvPicPr>
        <p:blipFill>
          <a:blip r:embed="rId2"/>
          <a:stretch>
            <a:fillRect/>
          </a:stretch>
        </p:blipFill>
        <p:spPr>
          <a:xfrm>
            <a:off x="175783" y="1409989"/>
            <a:ext cx="7739489" cy="4351338"/>
          </a:xfrm>
          <a:prstGeom prst="rect">
            <a:avLst/>
          </a:prstGeom>
        </p:spPr>
      </p:pic>
      <p:sp>
        <p:nvSpPr>
          <p:cNvPr id="5" name="CuadroTexto 4">
            <a:extLst>
              <a:ext uri="{FF2B5EF4-FFF2-40B4-BE49-F238E27FC236}">
                <a16:creationId xmlns:a16="http://schemas.microsoft.com/office/drawing/2014/main" id="{5E226533-B913-4261-9DA5-C899BE75DDF3}"/>
              </a:ext>
            </a:extLst>
          </p:cNvPr>
          <p:cNvSpPr txBox="1"/>
          <p:nvPr/>
        </p:nvSpPr>
        <p:spPr>
          <a:xfrm>
            <a:off x="8478982" y="1524000"/>
            <a:ext cx="3366654" cy="1477328"/>
          </a:xfrm>
          <a:prstGeom prst="rect">
            <a:avLst/>
          </a:prstGeom>
          <a:noFill/>
        </p:spPr>
        <p:txBody>
          <a:bodyPr wrap="square" rtlCol="0">
            <a:spAutoFit/>
          </a:bodyPr>
          <a:lstStyle/>
          <a:p>
            <a:pPr algn="just"/>
            <a:r>
              <a:rPr lang="es-MX" dirty="0"/>
              <a:t>El </a:t>
            </a:r>
            <a:r>
              <a:rPr lang="es-MX" b="1" dirty="0"/>
              <a:t>Área 2 registra el mayor valor de ventas, con aproximadamente 1.19 millones</a:t>
            </a:r>
            <a:r>
              <a:rPr lang="es-MX" dirty="0"/>
              <a:t>, seguida por el </a:t>
            </a:r>
            <a:r>
              <a:rPr lang="es-MX" b="1" dirty="0"/>
              <a:t>Área 5 con 1.15 millones</a:t>
            </a:r>
            <a:r>
              <a:rPr lang="es-MX" dirty="0"/>
              <a:t> y el </a:t>
            </a:r>
            <a:r>
              <a:rPr lang="es-MX" b="1" dirty="0"/>
              <a:t>Área 6 con 0.98 millones</a:t>
            </a:r>
            <a:r>
              <a:rPr lang="es-MX" dirty="0"/>
              <a:t>.</a:t>
            </a:r>
          </a:p>
        </p:txBody>
      </p:sp>
    </p:spTree>
    <p:extLst>
      <p:ext uri="{BB962C8B-B14F-4D97-AF65-F5344CB8AC3E}">
        <p14:creationId xmlns:p14="http://schemas.microsoft.com/office/powerpoint/2010/main" val="732650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4C7A26-0D3A-4475-BC98-3B6E4D58EF66}"/>
              </a:ext>
            </a:extLst>
          </p:cNvPr>
          <p:cNvSpPr>
            <a:spLocks noGrp="1"/>
          </p:cNvSpPr>
          <p:nvPr>
            <p:ph type="title"/>
          </p:nvPr>
        </p:nvSpPr>
        <p:spPr/>
        <p:txBody>
          <a:bodyPr>
            <a:normAutofit/>
          </a:bodyPr>
          <a:lstStyle/>
          <a:p>
            <a:pPr algn="ctr"/>
            <a:r>
              <a:rPr lang="es-MX" sz="2800" dirty="0"/>
              <a:t>Evolución mensual de las ventas en SQL</a:t>
            </a:r>
          </a:p>
        </p:txBody>
      </p:sp>
      <p:pic>
        <p:nvPicPr>
          <p:cNvPr id="4" name="Marcador de contenido 3">
            <a:extLst>
              <a:ext uri="{FF2B5EF4-FFF2-40B4-BE49-F238E27FC236}">
                <a16:creationId xmlns:a16="http://schemas.microsoft.com/office/drawing/2014/main" id="{DE3887FF-E4DD-4113-881A-2D495FE78956}"/>
              </a:ext>
            </a:extLst>
          </p:cNvPr>
          <p:cNvPicPr>
            <a:picLocks noGrp="1" noChangeAspect="1"/>
          </p:cNvPicPr>
          <p:nvPr>
            <p:ph idx="1"/>
          </p:nvPr>
        </p:nvPicPr>
        <p:blipFill>
          <a:blip r:embed="rId2"/>
          <a:stretch>
            <a:fillRect/>
          </a:stretch>
        </p:blipFill>
        <p:spPr>
          <a:xfrm>
            <a:off x="328182" y="1479261"/>
            <a:ext cx="7739489" cy="4351338"/>
          </a:xfrm>
          <a:prstGeom prst="rect">
            <a:avLst/>
          </a:prstGeom>
        </p:spPr>
      </p:pic>
      <p:sp>
        <p:nvSpPr>
          <p:cNvPr id="5" name="CuadroTexto 4">
            <a:extLst>
              <a:ext uri="{FF2B5EF4-FFF2-40B4-BE49-F238E27FC236}">
                <a16:creationId xmlns:a16="http://schemas.microsoft.com/office/drawing/2014/main" id="{A0B8183B-21F6-4C52-A078-E33358348CB1}"/>
              </a:ext>
            </a:extLst>
          </p:cNvPr>
          <p:cNvSpPr txBox="1"/>
          <p:nvPr/>
        </p:nvSpPr>
        <p:spPr>
          <a:xfrm>
            <a:off x="8520545" y="1579418"/>
            <a:ext cx="3560619" cy="2031325"/>
          </a:xfrm>
          <a:prstGeom prst="rect">
            <a:avLst/>
          </a:prstGeom>
          <a:noFill/>
        </p:spPr>
        <p:txBody>
          <a:bodyPr wrap="square" rtlCol="0">
            <a:spAutoFit/>
          </a:bodyPr>
          <a:lstStyle/>
          <a:p>
            <a:pPr algn="just"/>
            <a:r>
              <a:rPr lang="es-MX" dirty="0"/>
              <a:t>El análisis mensual muestra variaciones en el nivel de ventas a lo largo del periodo. </a:t>
            </a:r>
            <a:r>
              <a:rPr lang="es-MX" b="1" dirty="0"/>
              <a:t>Julio de 2022 registró aproximadamente 702 mil</a:t>
            </a:r>
            <a:r>
              <a:rPr lang="es-MX" dirty="0"/>
              <a:t>, mientras que </a:t>
            </a:r>
            <a:r>
              <a:rPr lang="es-MX" b="1" dirty="0"/>
              <a:t>mayo de 2023 alcanzó cerca de 712 mil</a:t>
            </a:r>
            <a:r>
              <a:rPr lang="es-MX" dirty="0"/>
              <a:t>, el mayor valor mensual observado.</a:t>
            </a:r>
          </a:p>
        </p:txBody>
      </p:sp>
    </p:spTree>
    <p:extLst>
      <p:ext uri="{BB962C8B-B14F-4D97-AF65-F5344CB8AC3E}">
        <p14:creationId xmlns:p14="http://schemas.microsoft.com/office/powerpoint/2010/main" val="130703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DB4845-A013-4B51-84AF-ABFE397C691B}"/>
              </a:ext>
            </a:extLst>
          </p:cNvPr>
          <p:cNvSpPr>
            <a:spLocks noGrp="1"/>
          </p:cNvSpPr>
          <p:nvPr>
            <p:ph type="title"/>
          </p:nvPr>
        </p:nvSpPr>
        <p:spPr/>
        <p:txBody>
          <a:bodyPr>
            <a:normAutofit/>
          </a:bodyPr>
          <a:lstStyle/>
          <a:p>
            <a:pPr algn="ctr"/>
            <a:r>
              <a:rPr lang="es-MX" sz="2800" dirty="0"/>
              <a:t>Análisis de ventas por segmento en SQL</a:t>
            </a:r>
          </a:p>
        </p:txBody>
      </p:sp>
      <p:pic>
        <p:nvPicPr>
          <p:cNvPr id="4" name="Marcador de contenido 3">
            <a:extLst>
              <a:ext uri="{FF2B5EF4-FFF2-40B4-BE49-F238E27FC236}">
                <a16:creationId xmlns:a16="http://schemas.microsoft.com/office/drawing/2014/main" id="{5B5D571D-DC5D-48AC-8B75-C81D9B8B4F85}"/>
              </a:ext>
            </a:extLst>
          </p:cNvPr>
          <p:cNvPicPr>
            <a:picLocks noGrp="1" noChangeAspect="1"/>
          </p:cNvPicPr>
          <p:nvPr>
            <p:ph idx="1"/>
          </p:nvPr>
        </p:nvPicPr>
        <p:blipFill>
          <a:blip r:embed="rId2"/>
          <a:stretch>
            <a:fillRect/>
          </a:stretch>
        </p:blipFill>
        <p:spPr>
          <a:xfrm>
            <a:off x="134219" y="1520825"/>
            <a:ext cx="7739489" cy="4351338"/>
          </a:xfrm>
          <a:prstGeom prst="rect">
            <a:avLst/>
          </a:prstGeom>
        </p:spPr>
      </p:pic>
      <p:sp>
        <p:nvSpPr>
          <p:cNvPr id="5" name="CuadroTexto 4">
            <a:extLst>
              <a:ext uri="{FF2B5EF4-FFF2-40B4-BE49-F238E27FC236}">
                <a16:creationId xmlns:a16="http://schemas.microsoft.com/office/drawing/2014/main" id="{BBA9F9A6-CFB9-4E1E-B9A8-44AC4044EADC}"/>
              </a:ext>
            </a:extLst>
          </p:cNvPr>
          <p:cNvSpPr txBox="1"/>
          <p:nvPr/>
        </p:nvSpPr>
        <p:spPr>
          <a:xfrm>
            <a:off x="8243455" y="1690688"/>
            <a:ext cx="3685309" cy="1754326"/>
          </a:xfrm>
          <a:prstGeom prst="rect">
            <a:avLst/>
          </a:prstGeom>
          <a:noFill/>
        </p:spPr>
        <p:txBody>
          <a:bodyPr wrap="square" rtlCol="0">
            <a:spAutoFit/>
          </a:bodyPr>
          <a:lstStyle/>
          <a:p>
            <a:pPr algn="just"/>
            <a:r>
              <a:rPr lang="es-MX" dirty="0"/>
              <a:t>El segmento </a:t>
            </a:r>
            <a:r>
              <a:rPr lang="es-MX" b="1" dirty="0"/>
              <a:t>BLEACH concentra el mayor valor de ventas, con aproximadamente 7.58 millones</a:t>
            </a:r>
            <a:r>
              <a:rPr lang="es-MX" dirty="0"/>
              <a:t>, seguido por </a:t>
            </a:r>
            <a:r>
              <a:rPr lang="es-MX" b="1" dirty="0"/>
              <a:t>LIQUID &amp; GEL con 1.45 millones</a:t>
            </a:r>
            <a:r>
              <a:rPr lang="es-MX" dirty="0"/>
              <a:t> y </a:t>
            </a:r>
            <a:r>
              <a:rPr lang="es-MX" b="1" dirty="0"/>
              <a:t>POWDER con 1.04 millones</a:t>
            </a:r>
            <a:r>
              <a:rPr lang="es-MX" dirty="0"/>
              <a:t>.</a:t>
            </a:r>
          </a:p>
        </p:txBody>
      </p:sp>
    </p:spTree>
    <p:extLst>
      <p:ext uri="{BB962C8B-B14F-4D97-AF65-F5344CB8AC3E}">
        <p14:creationId xmlns:p14="http://schemas.microsoft.com/office/powerpoint/2010/main" val="532561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DCE25-0A53-46DD-88FE-5AD2ADE236F8}"/>
              </a:ext>
            </a:extLst>
          </p:cNvPr>
          <p:cNvSpPr>
            <a:spLocks noGrp="1"/>
          </p:cNvSpPr>
          <p:nvPr>
            <p:ph type="title"/>
          </p:nvPr>
        </p:nvSpPr>
        <p:spPr/>
        <p:txBody>
          <a:bodyPr/>
          <a:lstStyle/>
          <a:p>
            <a:pPr algn="ctr"/>
            <a:r>
              <a:rPr lang="es-MX" dirty="0" err="1"/>
              <a:t>Jupyter</a:t>
            </a:r>
            <a:r>
              <a:rPr lang="es-MX" dirty="0"/>
              <a:t> Notebook</a:t>
            </a:r>
          </a:p>
        </p:txBody>
      </p:sp>
      <p:sp>
        <p:nvSpPr>
          <p:cNvPr id="3" name="Marcador de contenido 2">
            <a:extLst>
              <a:ext uri="{FF2B5EF4-FFF2-40B4-BE49-F238E27FC236}">
                <a16:creationId xmlns:a16="http://schemas.microsoft.com/office/drawing/2014/main" id="{B4914D7B-FD11-4C9A-B418-42C9325989D8}"/>
              </a:ext>
            </a:extLst>
          </p:cNvPr>
          <p:cNvSpPr>
            <a:spLocks noGrp="1"/>
          </p:cNvSpPr>
          <p:nvPr>
            <p:ph idx="1"/>
          </p:nvPr>
        </p:nvSpPr>
        <p:spPr/>
        <p:txBody>
          <a:bodyPr>
            <a:normAutofit fontScale="70000" lnSpcReduction="20000"/>
          </a:bodyPr>
          <a:lstStyle/>
          <a:p>
            <a:pPr marL="0" indent="0">
              <a:buNone/>
            </a:pPr>
            <a:r>
              <a:rPr lang="es-MX" b="1" dirty="0"/>
              <a:t>Análisis y predicción de ventas – Empresa Aliada</a:t>
            </a:r>
          </a:p>
          <a:p>
            <a:pPr marL="0" indent="0">
              <a:buNone/>
            </a:pPr>
            <a:r>
              <a:rPr lang="es-MX" b="1" dirty="0"/>
              <a:t>Objetivo</a:t>
            </a:r>
          </a:p>
          <a:p>
            <a:r>
              <a:rPr lang="es-MX" dirty="0"/>
              <a:t>El objetivo de este proyecto es realizar un análisis integral de las ventas históricas de la Empresa Aliada, con la finalidad de identificar patrones, tendencias y oportunidades relevantes para la toma de decisiones.</a:t>
            </a:r>
          </a:p>
          <a:p>
            <a:r>
              <a:rPr lang="es-MX" dirty="0"/>
              <a:t>Para ello se realizará la preparación y limpieza de los datos, seguida de un </a:t>
            </a:r>
            <a:r>
              <a:rPr lang="es-MX" b="1" dirty="0"/>
              <a:t>análisis exploratorio de datos (EDA)</a:t>
            </a:r>
            <a:r>
              <a:rPr lang="es-MX" dirty="0"/>
              <a:t> para estudiar la distribución de las ventas, el comportamiento por región y formato, así como la presencia de valores atípicos.</a:t>
            </a:r>
          </a:p>
          <a:p>
            <a:r>
              <a:rPr lang="es-MX" dirty="0"/>
              <a:t>Posteriormente, se aplicará </a:t>
            </a:r>
            <a:r>
              <a:rPr lang="es-MX" b="1" dirty="0"/>
              <a:t>K-</a:t>
            </a:r>
            <a:r>
              <a:rPr lang="es-MX" b="1" dirty="0" err="1"/>
              <a:t>Means</a:t>
            </a:r>
            <a:r>
              <a:rPr lang="es-MX" dirty="0"/>
              <a:t> para identificar grupos de productos con comportamientos de venta similares y se desarrollarán modelos predictivos mediante </a:t>
            </a:r>
            <a:r>
              <a:rPr lang="es-MX" b="1" dirty="0"/>
              <a:t>Regresión Lineal Múltiple y ARIMA</a:t>
            </a:r>
            <a:r>
              <a:rPr lang="es-MX" dirty="0"/>
              <a:t>, incluyendo el análisis específico de las marcas </a:t>
            </a:r>
            <a:r>
              <a:rPr lang="es-MX" dirty="0" err="1"/>
              <a:t>Vanish</a:t>
            </a:r>
            <a:r>
              <a:rPr lang="es-MX" dirty="0"/>
              <a:t> y Lysol.</a:t>
            </a:r>
          </a:p>
          <a:p>
            <a:r>
              <a:rPr lang="es-MX" dirty="0"/>
              <a:t>Finalmente, el desempeño de los modelos será evaluado mediante métricas estadísticas y representaciones gráficas, con el propósito de obtener conclusiones y recomendaciones basadas en los resultados del análisis.</a:t>
            </a:r>
          </a:p>
          <a:p>
            <a:r>
              <a:rPr lang="es-MX" dirty="0"/>
              <a:t>Esta ya describe </a:t>
            </a:r>
            <a:r>
              <a:rPr lang="es-MX" b="1" dirty="0"/>
              <a:t>lo que realmente terminamos haciendo en </a:t>
            </a:r>
            <a:r>
              <a:rPr lang="es-MX" b="1" dirty="0" err="1"/>
              <a:t>Jupyter</a:t>
            </a:r>
            <a:r>
              <a:rPr lang="es-MX" dirty="0"/>
              <a:t> y no presenta el proyecto como si únicamente fuera una predicción de </a:t>
            </a:r>
            <a:r>
              <a:rPr lang="es-MX" dirty="0" err="1"/>
              <a:t>Vanish</a:t>
            </a:r>
            <a:r>
              <a:rPr lang="es-MX" dirty="0"/>
              <a:t> y Lysol.</a:t>
            </a:r>
          </a:p>
          <a:p>
            <a:endParaRPr lang="es-MX" dirty="0"/>
          </a:p>
        </p:txBody>
      </p:sp>
    </p:spTree>
    <p:extLst>
      <p:ext uri="{BB962C8B-B14F-4D97-AF65-F5344CB8AC3E}">
        <p14:creationId xmlns:p14="http://schemas.microsoft.com/office/powerpoint/2010/main" val="1902035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6C73B9-32D0-49B8-98D6-5203A9B1F9A9}"/>
              </a:ext>
            </a:extLst>
          </p:cNvPr>
          <p:cNvSpPr>
            <a:spLocks noGrp="1"/>
          </p:cNvSpPr>
          <p:nvPr>
            <p:ph type="title"/>
          </p:nvPr>
        </p:nvSpPr>
        <p:spPr/>
        <p:txBody>
          <a:bodyPr/>
          <a:lstStyle/>
          <a:p>
            <a:pPr algn="ctr"/>
            <a:r>
              <a:rPr lang="es-MX" sz="2800" dirty="0"/>
              <a:t>Análisis Exploratorio de Datos (EDA)</a:t>
            </a:r>
            <a:br>
              <a:rPr lang="es-MX" dirty="0"/>
            </a:br>
            <a:endParaRPr lang="es-MX" dirty="0"/>
          </a:p>
        </p:txBody>
      </p:sp>
      <p:pic>
        <p:nvPicPr>
          <p:cNvPr id="4" name="Marcador de contenido 3">
            <a:extLst>
              <a:ext uri="{FF2B5EF4-FFF2-40B4-BE49-F238E27FC236}">
                <a16:creationId xmlns:a16="http://schemas.microsoft.com/office/drawing/2014/main" id="{B41BD98C-ACFB-47DB-AF6E-BBA6C243E832}"/>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3396633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02D1EF-75F4-4F21-91BA-6CAD2265225F}"/>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7D218E0B-F217-4776-8910-8ECCAAA648E0}"/>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2862418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981885-5A5F-4DF1-9D65-AE01654BE51D}"/>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A6D0479B-F3A5-47CD-8C04-89E33BDBD029}"/>
              </a:ext>
            </a:extLst>
          </p:cNvPr>
          <p:cNvPicPr>
            <a:picLocks noGrp="1" noChangeAspect="1"/>
          </p:cNvPicPr>
          <p:nvPr>
            <p:ph idx="1"/>
          </p:nvPr>
        </p:nvPicPr>
        <p:blipFill>
          <a:blip r:embed="rId2"/>
          <a:stretch>
            <a:fillRect/>
          </a:stretch>
        </p:blipFill>
        <p:spPr>
          <a:xfrm>
            <a:off x="300473" y="1881043"/>
            <a:ext cx="7739489" cy="4351338"/>
          </a:xfrm>
          <a:prstGeom prst="rect">
            <a:avLst/>
          </a:prstGeom>
        </p:spPr>
      </p:pic>
      <p:sp>
        <p:nvSpPr>
          <p:cNvPr id="5" name="CuadroTexto 4">
            <a:extLst>
              <a:ext uri="{FF2B5EF4-FFF2-40B4-BE49-F238E27FC236}">
                <a16:creationId xmlns:a16="http://schemas.microsoft.com/office/drawing/2014/main" id="{AC8A8DC6-B0D0-4478-99F4-46DDC9DC13F2}"/>
              </a:ext>
            </a:extLst>
          </p:cNvPr>
          <p:cNvSpPr txBox="1"/>
          <p:nvPr/>
        </p:nvSpPr>
        <p:spPr>
          <a:xfrm>
            <a:off x="8285018" y="2133600"/>
            <a:ext cx="3408218" cy="3139321"/>
          </a:xfrm>
          <a:prstGeom prst="rect">
            <a:avLst/>
          </a:prstGeom>
          <a:noFill/>
        </p:spPr>
        <p:txBody>
          <a:bodyPr wrap="square" rtlCol="0">
            <a:spAutoFit/>
          </a:bodyPr>
          <a:lstStyle/>
          <a:p>
            <a:r>
              <a:rPr lang="es-MX" dirty="0"/>
              <a:t>La distribución del valor de las ventas presenta un sesgo hacia la derecha. La mayoría de las observaciones se concentra en valores bajos, mientras que existen ventas de mayor valor que generan una cola prolongada hacia la derecha. Esto sugiere la presencia de valores atípicos, los cuales serán analizados mediante un diagrama de caja (</a:t>
            </a:r>
            <a:r>
              <a:rPr lang="es-MX" dirty="0" err="1"/>
              <a:t>boxplot</a:t>
            </a:r>
            <a:r>
              <a:rPr lang="es-MX" dirty="0"/>
              <a:t>).</a:t>
            </a:r>
          </a:p>
        </p:txBody>
      </p:sp>
    </p:spTree>
    <p:extLst>
      <p:ext uri="{BB962C8B-B14F-4D97-AF65-F5344CB8AC3E}">
        <p14:creationId xmlns:p14="http://schemas.microsoft.com/office/powerpoint/2010/main" val="2310545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BB3DAD-7D8F-4F3F-BFC3-5BA55EE50988}"/>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5364DD6C-16E0-4403-A32B-C9450F30D0A2}"/>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3881797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AA4EE-C5E3-49D4-B107-02A4D6E10FD1}"/>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67F7AC71-6439-40CC-85EF-8143BD696576}"/>
              </a:ext>
            </a:extLst>
          </p:cNvPr>
          <p:cNvPicPr>
            <a:picLocks noGrp="1" noChangeAspect="1"/>
          </p:cNvPicPr>
          <p:nvPr>
            <p:ph idx="1"/>
          </p:nvPr>
        </p:nvPicPr>
        <p:blipFill>
          <a:blip r:embed="rId2"/>
          <a:stretch>
            <a:fillRect/>
          </a:stretch>
        </p:blipFill>
        <p:spPr>
          <a:xfrm>
            <a:off x="439019" y="1853334"/>
            <a:ext cx="7739489" cy="4351338"/>
          </a:xfrm>
          <a:prstGeom prst="rect">
            <a:avLst/>
          </a:prstGeom>
        </p:spPr>
      </p:pic>
      <p:sp>
        <p:nvSpPr>
          <p:cNvPr id="5" name="CuadroTexto 4">
            <a:extLst>
              <a:ext uri="{FF2B5EF4-FFF2-40B4-BE49-F238E27FC236}">
                <a16:creationId xmlns:a16="http://schemas.microsoft.com/office/drawing/2014/main" id="{8BFD651D-E3FF-4A0D-8C18-549FF27D0D51}"/>
              </a:ext>
            </a:extLst>
          </p:cNvPr>
          <p:cNvSpPr txBox="1"/>
          <p:nvPr/>
        </p:nvSpPr>
        <p:spPr>
          <a:xfrm>
            <a:off x="8178508" y="1853334"/>
            <a:ext cx="3629891" cy="3139321"/>
          </a:xfrm>
          <a:prstGeom prst="rect">
            <a:avLst/>
          </a:prstGeom>
          <a:noFill/>
        </p:spPr>
        <p:txBody>
          <a:bodyPr wrap="square" rtlCol="0">
            <a:spAutoFit/>
          </a:bodyPr>
          <a:lstStyle/>
          <a:p>
            <a:pPr algn="just"/>
            <a:r>
              <a:rPr lang="es-MX" dirty="0"/>
              <a:t>El Área 2 presenta el mayor valor total de ventas, seguida por el Área 5 y el Área 6. Por otro lado, el Área 4 registra el menor valor de ventas entre las regiones analizadas.</a:t>
            </a:r>
          </a:p>
          <a:p>
            <a:pPr algn="just"/>
            <a:r>
              <a:rPr lang="es-MX" dirty="0"/>
              <a:t>Para esta comparación se excluyó el registro "TOTAL AUTOS SCANNING MEXICO", debido a que representa un total general y su inclusión junto con las áreas individuales podría distorsionar la comparación regional.</a:t>
            </a:r>
          </a:p>
        </p:txBody>
      </p:sp>
    </p:spTree>
    <p:extLst>
      <p:ext uri="{BB962C8B-B14F-4D97-AF65-F5344CB8AC3E}">
        <p14:creationId xmlns:p14="http://schemas.microsoft.com/office/powerpoint/2010/main" val="3004164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D34906-7CC6-47DD-9160-70C9EE7311EF}"/>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56D7F81C-399A-4669-8642-B2BAB02DE5AD}"/>
              </a:ext>
            </a:extLst>
          </p:cNvPr>
          <p:cNvPicPr>
            <a:picLocks noGrp="1" noChangeAspect="1"/>
          </p:cNvPicPr>
          <p:nvPr>
            <p:ph idx="1"/>
          </p:nvPr>
        </p:nvPicPr>
        <p:blipFill>
          <a:blip r:embed="rId2"/>
          <a:stretch>
            <a:fillRect/>
          </a:stretch>
        </p:blipFill>
        <p:spPr>
          <a:xfrm>
            <a:off x="258909" y="1853334"/>
            <a:ext cx="7739489" cy="4351338"/>
          </a:xfrm>
          <a:prstGeom prst="rect">
            <a:avLst/>
          </a:prstGeom>
        </p:spPr>
      </p:pic>
      <p:sp>
        <p:nvSpPr>
          <p:cNvPr id="5" name="CuadroTexto 4">
            <a:extLst>
              <a:ext uri="{FF2B5EF4-FFF2-40B4-BE49-F238E27FC236}">
                <a16:creationId xmlns:a16="http://schemas.microsoft.com/office/drawing/2014/main" id="{6057A05E-1323-4970-AFCE-A863566E178F}"/>
              </a:ext>
            </a:extLst>
          </p:cNvPr>
          <p:cNvSpPr txBox="1"/>
          <p:nvPr/>
        </p:nvSpPr>
        <p:spPr>
          <a:xfrm>
            <a:off x="8229599" y="1853334"/>
            <a:ext cx="3703491" cy="3970318"/>
          </a:xfrm>
          <a:prstGeom prst="rect">
            <a:avLst/>
          </a:prstGeom>
          <a:noFill/>
        </p:spPr>
        <p:txBody>
          <a:bodyPr wrap="square" rtlCol="0">
            <a:spAutoFit/>
          </a:bodyPr>
          <a:lstStyle/>
          <a:p>
            <a:pPr algn="just"/>
            <a:r>
              <a:rPr lang="es-MX" dirty="0"/>
              <a:t>Las ventas presentan variaciones a lo largo del periodo analizado, con diversos picos y descensos semanales. No se observa un comportamiento completamente constante y hacia la parte final del periodo aparecen algunos de los valores de ventas más elevados.</a:t>
            </a:r>
          </a:p>
          <a:p>
            <a:pPr algn="just"/>
            <a:r>
              <a:rPr lang="es-MX" dirty="0"/>
              <a:t>Estos cambios muestran la importancia de analizar el comportamiento temporal de las ventas y sirven como base para los modelos predictivos que se desarrollarán posteriormente.</a:t>
            </a:r>
          </a:p>
        </p:txBody>
      </p:sp>
    </p:spTree>
    <p:extLst>
      <p:ext uri="{BB962C8B-B14F-4D97-AF65-F5344CB8AC3E}">
        <p14:creationId xmlns:p14="http://schemas.microsoft.com/office/powerpoint/2010/main" val="2398721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FF9B21-5FDE-4393-A86A-973D56DDF333}"/>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57ABFCD3-530C-4872-9664-39BC544661F4}"/>
              </a:ext>
            </a:extLst>
          </p:cNvPr>
          <p:cNvPicPr>
            <a:picLocks noGrp="1" noChangeAspect="1"/>
          </p:cNvPicPr>
          <p:nvPr>
            <p:ph idx="1"/>
          </p:nvPr>
        </p:nvPicPr>
        <p:blipFill>
          <a:blip r:embed="rId2"/>
          <a:stretch>
            <a:fillRect/>
          </a:stretch>
        </p:blipFill>
        <p:spPr>
          <a:xfrm>
            <a:off x="231200" y="1839479"/>
            <a:ext cx="7739489" cy="4351338"/>
          </a:xfrm>
          <a:prstGeom prst="rect">
            <a:avLst/>
          </a:prstGeom>
        </p:spPr>
      </p:pic>
      <p:sp>
        <p:nvSpPr>
          <p:cNvPr id="5" name="CuadroTexto 4">
            <a:extLst>
              <a:ext uri="{FF2B5EF4-FFF2-40B4-BE49-F238E27FC236}">
                <a16:creationId xmlns:a16="http://schemas.microsoft.com/office/drawing/2014/main" id="{D186C13E-1425-4175-A31A-61D6CFF5ADC8}"/>
              </a:ext>
            </a:extLst>
          </p:cNvPr>
          <p:cNvSpPr txBox="1"/>
          <p:nvPr/>
        </p:nvSpPr>
        <p:spPr>
          <a:xfrm>
            <a:off x="8077200" y="1995055"/>
            <a:ext cx="3883600" cy="3416320"/>
          </a:xfrm>
          <a:prstGeom prst="rect">
            <a:avLst/>
          </a:prstGeom>
          <a:noFill/>
        </p:spPr>
        <p:txBody>
          <a:bodyPr wrap="square" rtlCol="0">
            <a:spAutoFit/>
          </a:bodyPr>
          <a:lstStyle/>
          <a:p>
            <a:pPr algn="just"/>
            <a:r>
              <a:rPr lang="es-MX" dirty="0"/>
              <a:t>El diagrama de caja permite comparar la distribución y variabilidad de las ventas entre los distintos formatos de producto.</a:t>
            </a:r>
          </a:p>
          <a:p>
            <a:pPr algn="just"/>
            <a:r>
              <a:rPr lang="es-MX" dirty="0"/>
              <a:t>Para facilitar la visualización se ocultaron los valores atípicos únicamente en la gráfica, sin eliminarlos del conjunto de datos. Esto permite observar con mayor claridad las diferencias en la distribución de las ventas entre los formatos.</a:t>
            </a:r>
          </a:p>
          <a:p>
            <a:endParaRPr lang="es-MX" dirty="0"/>
          </a:p>
        </p:txBody>
      </p:sp>
    </p:spTree>
    <p:extLst>
      <p:ext uri="{BB962C8B-B14F-4D97-AF65-F5344CB8AC3E}">
        <p14:creationId xmlns:p14="http://schemas.microsoft.com/office/powerpoint/2010/main" val="2612974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EB3776-CE16-4221-B724-3EC1995E3CFA}"/>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C429882A-FC14-463E-B38D-B98EF953BEF9}"/>
              </a:ext>
            </a:extLst>
          </p:cNvPr>
          <p:cNvPicPr>
            <a:picLocks noGrp="1" noChangeAspect="1"/>
          </p:cNvPicPr>
          <p:nvPr>
            <p:ph idx="1"/>
          </p:nvPr>
        </p:nvPicPr>
        <p:blipFill>
          <a:blip r:embed="rId2"/>
          <a:stretch>
            <a:fillRect/>
          </a:stretch>
        </p:blipFill>
        <p:spPr>
          <a:xfrm>
            <a:off x="300473" y="1690688"/>
            <a:ext cx="7739489" cy="4351338"/>
          </a:xfrm>
          <a:prstGeom prst="rect">
            <a:avLst/>
          </a:prstGeom>
        </p:spPr>
      </p:pic>
      <p:sp>
        <p:nvSpPr>
          <p:cNvPr id="5" name="CuadroTexto 4">
            <a:extLst>
              <a:ext uri="{FF2B5EF4-FFF2-40B4-BE49-F238E27FC236}">
                <a16:creationId xmlns:a16="http://schemas.microsoft.com/office/drawing/2014/main" id="{E86058B8-942A-460E-9580-FEA9564FC265}"/>
              </a:ext>
            </a:extLst>
          </p:cNvPr>
          <p:cNvSpPr txBox="1"/>
          <p:nvPr/>
        </p:nvSpPr>
        <p:spPr>
          <a:xfrm>
            <a:off x="8382000" y="1995055"/>
            <a:ext cx="3509527" cy="4524315"/>
          </a:xfrm>
          <a:prstGeom prst="rect">
            <a:avLst/>
          </a:prstGeom>
          <a:noFill/>
        </p:spPr>
        <p:txBody>
          <a:bodyPr wrap="square" rtlCol="0">
            <a:spAutoFit/>
          </a:bodyPr>
          <a:lstStyle/>
          <a:p>
            <a:pPr algn="just"/>
            <a:r>
              <a:rPr lang="es-MX" dirty="0"/>
              <a:t>El diagrama de caja muestra diferencias en la distribución de las ventas entre las distintas regiones. El Área 5 presenta los valores típicos de venta más elevados, mientras que anteriormente el análisis de ventas acumuladas mostró al Área 2 con el mayor valor total.</a:t>
            </a:r>
          </a:p>
          <a:p>
            <a:pPr algn="just"/>
            <a:r>
              <a:rPr lang="es-MX" dirty="0"/>
              <a:t>Esto indica que una región puede presentar ventas individuales generalmente más altas sin necesariamente acumular el mayor volumen total de ventas durante todo el periodo analizado.</a:t>
            </a:r>
          </a:p>
          <a:p>
            <a:endParaRPr lang="es-MX" dirty="0"/>
          </a:p>
        </p:txBody>
      </p:sp>
    </p:spTree>
    <p:extLst>
      <p:ext uri="{BB962C8B-B14F-4D97-AF65-F5344CB8AC3E}">
        <p14:creationId xmlns:p14="http://schemas.microsoft.com/office/powerpoint/2010/main" val="3744668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75A0B-E2BF-4BF7-9BCF-FDC8DC4D71C8}"/>
              </a:ext>
            </a:extLst>
          </p:cNvPr>
          <p:cNvSpPr>
            <a:spLocks noGrp="1"/>
          </p:cNvSpPr>
          <p:nvPr>
            <p:ph type="title"/>
          </p:nvPr>
        </p:nvSpPr>
        <p:spPr/>
        <p:txBody>
          <a:bodyPr/>
          <a:lstStyle/>
          <a:p>
            <a:pPr algn="ctr"/>
            <a:r>
              <a:rPr lang="es-MX" sz="2800" dirty="0"/>
              <a:t>Segmentación mediante K-</a:t>
            </a:r>
            <a:r>
              <a:rPr lang="es-MX" sz="2800" dirty="0" err="1"/>
              <a:t>Means</a:t>
            </a:r>
            <a:br>
              <a:rPr lang="es-MX" dirty="0"/>
            </a:br>
            <a:endParaRPr lang="es-MX" dirty="0"/>
          </a:p>
        </p:txBody>
      </p:sp>
      <p:pic>
        <p:nvPicPr>
          <p:cNvPr id="4" name="Marcador de contenido 3">
            <a:extLst>
              <a:ext uri="{FF2B5EF4-FFF2-40B4-BE49-F238E27FC236}">
                <a16:creationId xmlns:a16="http://schemas.microsoft.com/office/drawing/2014/main" id="{9CCB7A2F-BB96-4C4A-9E5A-314DC18BEABA}"/>
              </a:ext>
            </a:extLst>
          </p:cNvPr>
          <p:cNvPicPr>
            <a:picLocks noGrp="1" noChangeAspect="1"/>
          </p:cNvPicPr>
          <p:nvPr>
            <p:ph idx="1"/>
          </p:nvPr>
        </p:nvPicPr>
        <p:blipFill>
          <a:blip r:embed="rId2"/>
          <a:stretch>
            <a:fillRect/>
          </a:stretch>
        </p:blipFill>
        <p:spPr>
          <a:xfrm>
            <a:off x="2226255" y="1510579"/>
            <a:ext cx="7739489" cy="4351338"/>
          </a:xfrm>
          <a:prstGeom prst="rect">
            <a:avLst/>
          </a:prstGeom>
        </p:spPr>
      </p:pic>
    </p:spTree>
    <p:extLst>
      <p:ext uri="{BB962C8B-B14F-4D97-AF65-F5344CB8AC3E}">
        <p14:creationId xmlns:p14="http://schemas.microsoft.com/office/powerpoint/2010/main" val="2144517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628DBB-DFED-4E4E-95C7-19844126F3F2}"/>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C2867BDC-F8E7-4382-8E83-7E6C261396DD}"/>
              </a:ext>
            </a:extLst>
          </p:cNvPr>
          <p:cNvPicPr>
            <a:picLocks noGrp="1" noChangeAspect="1"/>
          </p:cNvPicPr>
          <p:nvPr>
            <p:ph idx="1"/>
          </p:nvPr>
        </p:nvPicPr>
        <p:blipFill>
          <a:blip r:embed="rId2"/>
          <a:stretch>
            <a:fillRect/>
          </a:stretch>
        </p:blipFill>
        <p:spPr>
          <a:xfrm>
            <a:off x="328182" y="1690688"/>
            <a:ext cx="7739489" cy="4351338"/>
          </a:xfrm>
          <a:prstGeom prst="rect">
            <a:avLst/>
          </a:prstGeom>
        </p:spPr>
      </p:pic>
      <p:sp>
        <p:nvSpPr>
          <p:cNvPr id="5" name="CuadroTexto 4">
            <a:extLst>
              <a:ext uri="{FF2B5EF4-FFF2-40B4-BE49-F238E27FC236}">
                <a16:creationId xmlns:a16="http://schemas.microsoft.com/office/drawing/2014/main" id="{85E787AF-5028-4970-895B-7B8E3F47E09E}"/>
              </a:ext>
            </a:extLst>
          </p:cNvPr>
          <p:cNvSpPr txBox="1"/>
          <p:nvPr/>
        </p:nvSpPr>
        <p:spPr>
          <a:xfrm>
            <a:off x="8312727" y="2036618"/>
            <a:ext cx="3551091" cy="3416320"/>
          </a:xfrm>
          <a:prstGeom prst="rect">
            <a:avLst/>
          </a:prstGeom>
          <a:noFill/>
        </p:spPr>
        <p:txBody>
          <a:bodyPr wrap="square" rtlCol="0">
            <a:spAutoFit/>
          </a:bodyPr>
          <a:lstStyle/>
          <a:p>
            <a:pPr algn="just"/>
            <a:r>
              <a:rPr lang="es-MX" dirty="0"/>
              <a:t>Mediante el método del codo se observa una disminución pronunciada de la inercia entre k=1 y k=3. A partir de tres </a:t>
            </a:r>
            <a:r>
              <a:rPr lang="es-MX" dirty="0" err="1"/>
              <a:t>clusters</a:t>
            </a:r>
            <a:r>
              <a:rPr lang="es-MX" dirty="0"/>
              <a:t>, la reducción de la inercia comienza a ser más gradual.</a:t>
            </a:r>
          </a:p>
          <a:p>
            <a:pPr algn="just"/>
            <a:r>
              <a:rPr lang="es-MX" dirty="0"/>
              <a:t>Por este motivo, se selecciona k=3 como un número adecuado de grupos para segmentar los productos según su comportamiento de ventas.</a:t>
            </a:r>
          </a:p>
          <a:p>
            <a:endParaRPr lang="es-MX" dirty="0"/>
          </a:p>
        </p:txBody>
      </p:sp>
    </p:spTree>
    <p:extLst>
      <p:ext uri="{BB962C8B-B14F-4D97-AF65-F5344CB8AC3E}">
        <p14:creationId xmlns:p14="http://schemas.microsoft.com/office/powerpoint/2010/main" val="2830341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591001-39B3-4FF8-8F88-373520F5DF80}"/>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E5346C27-7BF8-4EA8-BDB4-D978D2D3C3B7}"/>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2151431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BB2D0-482C-4E97-A205-A7DEAA76249B}"/>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702735E4-B628-4B59-9A3C-0E3B225D1FC7}"/>
              </a:ext>
            </a:extLst>
          </p:cNvPr>
          <p:cNvPicPr>
            <a:picLocks noGrp="1" noChangeAspect="1"/>
          </p:cNvPicPr>
          <p:nvPr>
            <p:ph idx="1"/>
          </p:nvPr>
        </p:nvPicPr>
        <p:blipFill>
          <a:blip r:embed="rId2"/>
          <a:stretch>
            <a:fillRect/>
          </a:stretch>
        </p:blipFill>
        <p:spPr>
          <a:xfrm>
            <a:off x="161927" y="1690688"/>
            <a:ext cx="7739489" cy="4351338"/>
          </a:xfrm>
          <a:prstGeom prst="rect">
            <a:avLst/>
          </a:prstGeom>
        </p:spPr>
      </p:pic>
      <p:sp>
        <p:nvSpPr>
          <p:cNvPr id="5" name="CuadroTexto 4">
            <a:extLst>
              <a:ext uri="{FF2B5EF4-FFF2-40B4-BE49-F238E27FC236}">
                <a16:creationId xmlns:a16="http://schemas.microsoft.com/office/drawing/2014/main" id="{211CBD80-DDA7-4D49-BAF5-0BD57A048197}"/>
              </a:ext>
            </a:extLst>
          </p:cNvPr>
          <p:cNvSpPr txBox="1"/>
          <p:nvPr/>
        </p:nvSpPr>
        <p:spPr>
          <a:xfrm>
            <a:off x="8079801" y="1690688"/>
            <a:ext cx="3560619" cy="3970318"/>
          </a:xfrm>
          <a:prstGeom prst="rect">
            <a:avLst/>
          </a:prstGeom>
          <a:noFill/>
        </p:spPr>
        <p:txBody>
          <a:bodyPr wrap="square" rtlCol="0">
            <a:spAutoFit/>
          </a:bodyPr>
          <a:lstStyle/>
          <a:p>
            <a:r>
              <a:rPr lang="es-MX" sz="1400" dirty="0"/>
              <a:t>El modelo K-</a:t>
            </a:r>
            <a:r>
              <a:rPr lang="es-MX" sz="1400" dirty="0" err="1"/>
              <a:t>Means</a:t>
            </a:r>
            <a:r>
              <a:rPr lang="es-MX" sz="1400" dirty="0"/>
              <a:t> permitió identificar tres grupos de productos con diferentes niveles de desempeño comercial.</a:t>
            </a:r>
          </a:p>
          <a:p>
            <a:r>
              <a:rPr lang="es-MX" sz="1400" b="1" dirty="0" err="1"/>
              <a:t>Cluster</a:t>
            </a:r>
            <a:r>
              <a:rPr lang="es-MX" sz="1400" b="1" dirty="0"/>
              <a:t> 0 – Bajo desempeño:</a:t>
            </a:r>
            <a:r>
              <a:rPr lang="es-MX" sz="1400" dirty="0"/>
              <a:t> concentra la mayoría de los productos, con menores niveles promedio de ventas y unidades vendidas.</a:t>
            </a:r>
          </a:p>
          <a:p>
            <a:r>
              <a:rPr lang="es-MX" sz="1400" b="1" dirty="0" err="1"/>
              <a:t>Cluster</a:t>
            </a:r>
            <a:r>
              <a:rPr lang="es-MX" sz="1400" b="1" dirty="0"/>
              <a:t> 2 – Desempeño intermedio:</a:t>
            </a:r>
            <a:r>
              <a:rPr lang="es-MX" sz="1400" dirty="0"/>
              <a:t> agrupa productos con niveles de ventas y unidades superiores al grupo anterior.</a:t>
            </a:r>
          </a:p>
          <a:p>
            <a:r>
              <a:rPr lang="es-MX" sz="1400" b="1" dirty="0" err="1"/>
              <a:t>Cluster</a:t>
            </a:r>
            <a:r>
              <a:rPr lang="es-MX" sz="1400" b="1" dirty="0"/>
              <a:t> 1 – Alto desempeño:</a:t>
            </a:r>
            <a:r>
              <a:rPr lang="es-MX" sz="1400" dirty="0"/>
              <a:t> contiene únicamente tres productos, pero presenta los mayores niveles promedio tanto en valor de ventas como en unidades vendidas.</a:t>
            </a:r>
          </a:p>
          <a:p>
            <a:r>
              <a:rPr lang="es-MX" sz="1400" dirty="0"/>
              <a:t>Los resultados muestran que una pequeña cantidad de productos concentra un desempeño comercial considerablemente superior al resto.</a:t>
            </a:r>
          </a:p>
        </p:txBody>
      </p:sp>
    </p:spTree>
    <p:extLst>
      <p:ext uri="{BB962C8B-B14F-4D97-AF65-F5344CB8AC3E}">
        <p14:creationId xmlns:p14="http://schemas.microsoft.com/office/powerpoint/2010/main" val="971013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35981A-1D06-42DD-9F3D-37250D316C28}"/>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566ADC50-ABC7-4569-865F-90A93FCF61FC}"/>
              </a:ext>
            </a:extLst>
          </p:cNvPr>
          <p:cNvPicPr>
            <a:picLocks noGrp="1" noChangeAspect="1"/>
          </p:cNvPicPr>
          <p:nvPr>
            <p:ph idx="1"/>
          </p:nvPr>
        </p:nvPicPr>
        <p:blipFill>
          <a:blip r:embed="rId2"/>
          <a:stretch>
            <a:fillRect/>
          </a:stretch>
        </p:blipFill>
        <p:spPr>
          <a:xfrm>
            <a:off x="203491" y="1690688"/>
            <a:ext cx="7739489" cy="4351338"/>
          </a:xfrm>
          <a:prstGeom prst="rect">
            <a:avLst/>
          </a:prstGeom>
        </p:spPr>
      </p:pic>
      <p:sp>
        <p:nvSpPr>
          <p:cNvPr id="5" name="CuadroTexto 4">
            <a:extLst>
              <a:ext uri="{FF2B5EF4-FFF2-40B4-BE49-F238E27FC236}">
                <a16:creationId xmlns:a16="http://schemas.microsoft.com/office/drawing/2014/main" id="{FF54F4C2-49D7-4B63-816A-7B7C2D6C7D94}"/>
              </a:ext>
            </a:extLst>
          </p:cNvPr>
          <p:cNvSpPr txBox="1"/>
          <p:nvPr/>
        </p:nvSpPr>
        <p:spPr>
          <a:xfrm>
            <a:off x="8174181" y="1863653"/>
            <a:ext cx="3629891" cy="3323987"/>
          </a:xfrm>
          <a:prstGeom prst="rect">
            <a:avLst/>
          </a:prstGeom>
          <a:noFill/>
        </p:spPr>
        <p:txBody>
          <a:bodyPr wrap="square" rtlCol="0">
            <a:spAutoFit/>
          </a:bodyPr>
          <a:lstStyle/>
          <a:p>
            <a:r>
              <a:rPr lang="es-MX" sz="1400" dirty="0"/>
              <a:t>La gráfica de dispersión permite visualizar los tres grupos identificados por el modelo K-</a:t>
            </a:r>
            <a:r>
              <a:rPr lang="es-MX" sz="1400" dirty="0" err="1"/>
              <a:t>Means</a:t>
            </a:r>
            <a:r>
              <a:rPr lang="es-MX" sz="1400" dirty="0"/>
              <a:t> a partir de las ventas totales y las unidades vendidas de cada producto.</a:t>
            </a:r>
          </a:p>
          <a:p>
            <a:r>
              <a:rPr lang="es-MX" sz="1400" dirty="0"/>
              <a:t>La mayoría de los productos se concentra en el </a:t>
            </a:r>
            <a:r>
              <a:rPr lang="es-MX" sz="1400" dirty="0" err="1"/>
              <a:t>cluster</a:t>
            </a:r>
            <a:r>
              <a:rPr lang="es-MX" sz="1400" dirty="0"/>
              <a:t> de bajo desempeño, mientras que un grupo más reducido presenta un comportamiento intermedio. Finalmente, únicamente tres productos conforman el </a:t>
            </a:r>
            <a:r>
              <a:rPr lang="es-MX" sz="1400" dirty="0" err="1"/>
              <a:t>cluster</a:t>
            </a:r>
            <a:r>
              <a:rPr lang="es-MX" sz="1400" dirty="0"/>
              <a:t> de alto desempeño, destacándose considerablemente por sus niveles de ventas y unidades vendidas.</a:t>
            </a:r>
          </a:p>
          <a:p>
            <a:r>
              <a:rPr lang="es-MX" sz="1400" dirty="0"/>
              <a:t>Esta segmentación permite identificar productos estratégicos y diferenciar aquellos con mayor impacto comercial.</a:t>
            </a:r>
          </a:p>
        </p:txBody>
      </p:sp>
    </p:spTree>
    <p:extLst>
      <p:ext uri="{BB962C8B-B14F-4D97-AF65-F5344CB8AC3E}">
        <p14:creationId xmlns:p14="http://schemas.microsoft.com/office/powerpoint/2010/main" val="805582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B4E7F8-FB9F-4690-912C-ABD80A97E8CF}"/>
              </a:ext>
            </a:extLst>
          </p:cNvPr>
          <p:cNvSpPr>
            <a:spLocks noGrp="1"/>
          </p:cNvSpPr>
          <p:nvPr>
            <p:ph type="title"/>
          </p:nvPr>
        </p:nvSpPr>
        <p:spPr/>
        <p:txBody>
          <a:bodyPr/>
          <a:lstStyle/>
          <a:p>
            <a:pPr algn="ctr"/>
            <a:r>
              <a:rPr lang="es-MX" sz="2800" dirty="0"/>
              <a:t>Regresión Lineal Múltiple</a:t>
            </a:r>
            <a:br>
              <a:rPr lang="es-MX" dirty="0"/>
            </a:br>
            <a:endParaRPr lang="es-MX" dirty="0"/>
          </a:p>
        </p:txBody>
      </p:sp>
      <p:pic>
        <p:nvPicPr>
          <p:cNvPr id="4" name="Marcador de contenido 3">
            <a:extLst>
              <a:ext uri="{FF2B5EF4-FFF2-40B4-BE49-F238E27FC236}">
                <a16:creationId xmlns:a16="http://schemas.microsoft.com/office/drawing/2014/main" id="{6AAE5C54-90F8-4214-95B8-C232EEADBB48}"/>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12309915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0A0D39-BE71-47F3-87DA-5D118B3583A8}"/>
              </a:ext>
            </a:extLst>
          </p:cNvPr>
          <p:cNvSpPr>
            <a:spLocks noGrp="1"/>
          </p:cNvSpPr>
          <p:nvPr>
            <p:ph type="title"/>
          </p:nvPr>
        </p:nvSpPr>
        <p:spPr/>
        <p:txBody>
          <a:bodyPr/>
          <a:lstStyle/>
          <a:p>
            <a:endParaRPr lang="es-MX"/>
          </a:p>
        </p:txBody>
      </p:sp>
      <p:pic>
        <p:nvPicPr>
          <p:cNvPr id="5" name="Marcador de contenido 4">
            <a:extLst>
              <a:ext uri="{FF2B5EF4-FFF2-40B4-BE49-F238E27FC236}">
                <a16:creationId xmlns:a16="http://schemas.microsoft.com/office/drawing/2014/main" id="{E29167B2-1762-4556-842A-0CFE6950785E}"/>
              </a:ext>
            </a:extLst>
          </p:cNvPr>
          <p:cNvPicPr>
            <a:picLocks noGrp="1" noChangeAspect="1"/>
          </p:cNvPicPr>
          <p:nvPr>
            <p:ph idx="1"/>
          </p:nvPr>
        </p:nvPicPr>
        <p:blipFill>
          <a:blip r:embed="rId2"/>
          <a:stretch>
            <a:fillRect/>
          </a:stretch>
        </p:blipFill>
        <p:spPr>
          <a:xfrm>
            <a:off x="120364" y="1894897"/>
            <a:ext cx="7739489" cy="4351338"/>
          </a:xfrm>
          <a:prstGeom prst="rect">
            <a:avLst/>
          </a:prstGeom>
        </p:spPr>
      </p:pic>
      <p:sp>
        <p:nvSpPr>
          <p:cNvPr id="6" name="CuadroTexto 5">
            <a:extLst>
              <a:ext uri="{FF2B5EF4-FFF2-40B4-BE49-F238E27FC236}">
                <a16:creationId xmlns:a16="http://schemas.microsoft.com/office/drawing/2014/main" id="{F42869CC-D88A-45E5-93C2-9E662F4489A4}"/>
              </a:ext>
            </a:extLst>
          </p:cNvPr>
          <p:cNvSpPr txBox="1"/>
          <p:nvPr/>
        </p:nvSpPr>
        <p:spPr>
          <a:xfrm>
            <a:off x="8049491" y="1894897"/>
            <a:ext cx="3768436" cy="3539430"/>
          </a:xfrm>
          <a:prstGeom prst="rect">
            <a:avLst/>
          </a:prstGeom>
          <a:noFill/>
        </p:spPr>
        <p:txBody>
          <a:bodyPr wrap="square" rtlCol="0">
            <a:spAutoFit/>
          </a:bodyPr>
          <a:lstStyle/>
          <a:p>
            <a:pPr algn="just"/>
            <a:r>
              <a:rPr lang="es-MX" sz="1400" dirty="0"/>
              <a:t>El modelo de regresión lineal múltiple obtuvo un R² de 0.8311, lo que indica que aproximadamente el 83.11% de la variabilidad del valor de las ventas es explicada por las variables utilizadas en el modelo.</a:t>
            </a:r>
          </a:p>
          <a:p>
            <a:pPr algn="just"/>
            <a:r>
              <a:rPr lang="es-MX" sz="1400" dirty="0"/>
              <a:t>El MAE fue de 45.30, mientras que el RMSE alcanzó 144.46. La diferencia entre ambas métricas indica la presencia de algunos errores de predicción considerablemente mayores, lo cual es consistente con los valores atípicos identificados previamente durante el análisis exploratorio.</a:t>
            </a:r>
          </a:p>
          <a:p>
            <a:pPr algn="just"/>
            <a:r>
              <a:rPr lang="es-MX" sz="1400" dirty="0"/>
              <a:t>En general, el modelo presenta una buena capacidad explicativa, aunque su desempeño disminuye ante observaciones con valores de venta elevados.</a:t>
            </a:r>
          </a:p>
        </p:txBody>
      </p:sp>
    </p:spTree>
    <p:extLst>
      <p:ext uri="{BB962C8B-B14F-4D97-AF65-F5344CB8AC3E}">
        <p14:creationId xmlns:p14="http://schemas.microsoft.com/office/powerpoint/2010/main" val="1323138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3A0B1F-858C-4657-8A9D-AB54344B301B}"/>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C9CE3CF1-8C98-4691-8196-34B314A49BD0}"/>
              </a:ext>
            </a:extLst>
          </p:cNvPr>
          <p:cNvPicPr>
            <a:picLocks noGrp="1" noChangeAspect="1"/>
          </p:cNvPicPr>
          <p:nvPr>
            <p:ph idx="1"/>
          </p:nvPr>
        </p:nvPicPr>
        <p:blipFill>
          <a:blip r:embed="rId2"/>
          <a:stretch>
            <a:fillRect/>
          </a:stretch>
        </p:blipFill>
        <p:spPr>
          <a:xfrm>
            <a:off x="203491" y="1949018"/>
            <a:ext cx="7739489" cy="4351338"/>
          </a:xfrm>
          <a:prstGeom prst="rect">
            <a:avLst/>
          </a:prstGeom>
        </p:spPr>
      </p:pic>
      <p:sp>
        <p:nvSpPr>
          <p:cNvPr id="5" name="CuadroTexto 4">
            <a:extLst>
              <a:ext uri="{FF2B5EF4-FFF2-40B4-BE49-F238E27FC236}">
                <a16:creationId xmlns:a16="http://schemas.microsoft.com/office/drawing/2014/main" id="{C289A115-02F5-424C-9D9C-CF2DA6CBAAF6}"/>
              </a:ext>
            </a:extLst>
          </p:cNvPr>
          <p:cNvSpPr txBox="1"/>
          <p:nvPr/>
        </p:nvSpPr>
        <p:spPr>
          <a:xfrm>
            <a:off x="8063345" y="1925782"/>
            <a:ext cx="3685310" cy="4555093"/>
          </a:xfrm>
          <a:prstGeom prst="rect">
            <a:avLst/>
          </a:prstGeom>
          <a:noFill/>
        </p:spPr>
        <p:txBody>
          <a:bodyPr wrap="square" rtlCol="0">
            <a:spAutoFit/>
          </a:bodyPr>
          <a:lstStyle/>
          <a:p>
            <a:r>
              <a:rPr lang="es-MX" sz="1600" dirty="0"/>
              <a:t>La gráfica muestra la relación entre los valores reales de venta y las predicciones generadas por el modelo de regresión lineal múltiple.</a:t>
            </a:r>
          </a:p>
          <a:p>
            <a:r>
              <a:rPr lang="es-MX" sz="1600" dirty="0"/>
              <a:t>La mayoría de las observaciones se concentra cerca de la línea diagonal, lo que indica una buena capacidad predictiva general del modelo. Sin embargo, en los valores de venta más elevados se observan mayores diferencias entre los valores reales y los estimados.</a:t>
            </a:r>
          </a:p>
          <a:p>
            <a:r>
              <a:rPr lang="es-MX" sz="1600" dirty="0"/>
              <a:t>Este comportamiento es consistente con las métricas obtenidas, donde el modelo alcanzó un R² de 0.8311 y un MAE de 45.30, aunque los errores de mayor magnitud incrementaron el RMSE hasta 144.46.</a:t>
            </a:r>
          </a:p>
          <a:p>
            <a:endParaRPr lang="es-MX" dirty="0"/>
          </a:p>
        </p:txBody>
      </p:sp>
    </p:spTree>
    <p:extLst>
      <p:ext uri="{BB962C8B-B14F-4D97-AF65-F5344CB8AC3E}">
        <p14:creationId xmlns:p14="http://schemas.microsoft.com/office/powerpoint/2010/main" val="1803119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972A3C-F20C-49CE-BD4C-A67F1BD7B420}"/>
              </a:ext>
            </a:extLst>
          </p:cNvPr>
          <p:cNvSpPr>
            <a:spLocks noGrp="1"/>
          </p:cNvSpPr>
          <p:nvPr>
            <p:ph type="title"/>
          </p:nvPr>
        </p:nvSpPr>
        <p:spPr/>
        <p:txBody>
          <a:bodyPr/>
          <a:lstStyle/>
          <a:p>
            <a:pPr algn="ctr"/>
            <a:r>
              <a:rPr lang="es-MX" sz="2800" dirty="0"/>
              <a:t>Selección de parámetros ARIMA</a:t>
            </a:r>
            <a:br>
              <a:rPr lang="es-MX" dirty="0"/>
            </a:br>
            <a:endParaRPr lang="es-MX" dirty="0"/>
          </a:p>
        </p:txBody>
      </p:sp>
      <p:pic>
        <p:nvPicPr>
          <p:cNvPr id="9" name="Marcador de contenido 8">
            <a:extLst>
              <a:ext uri="{FF2B5EF4-FFF2-40B4-BE49-F238E27FC236}">
                <a16:creationId xmlns:a16="http://schemas.microsoft.com/office/drawing/2014/main" id="{7A1FE604-D648-422E-AE5D-6A63AF67D828}"/>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1597434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D90C04-731F-4442-8906-4A4EE38A0162}"/>
              </a:ext>
            </a:extLst>
          </p:cNvPr>
          <p:cNvSpPr>
            <a:spLocks noGrp="1"/>
          </p:cNvSpPr>
          <p:nvPr>
            <p:ph type="title"/>
          </p:nvPr>
        </p:nvSpPr>
        <p:spPr/>
        <p:txBody>
          <a:bodyPr/>
          <a:lstStyle/>
          <a:p>
            <a:endParaRPr lang="es-MX"/>
          </a:p>
        </p:txBody>
      </p:sp>
      <p:pic>
        <p:nvPicPr>
          <p:cNvPr id="7" name="Marcador de contenido 6">
            <a:extLst>
              <a:ext uri="{FF2B5EF4-FFF2-40B4-BE49-F238E27FC236}">
                <a16:creationId xmlns:a16="http://schemas.microsoft.com/office/drawing/2014/main" id="{21599913-21D1-4F8E-AB39-123AFB99440C}"/>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1567880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3D5012-BE4C-4D1F-80CE-A30DDD1A32F1}"/>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5A2C7D87-2243-4775-86B8-7E2495F0115D}"/>
              </a:ext>
            </a:extLst>
          </p:cNvPr>
          <p:cNvPicPr>
            <a:picLocks noGrp="1" noChangeAspect="1"/>
          </p:cNvPicPr>
          <p:nvPr>
            <p:ph idx="1"/>
          </p:nvPr>
        </p:nvPicPr>
        <p:blipFill>
          <a:blip r:embed="rId2"/>
          <a:stretch>
            <a:fillRect/>
          </a:stretch>
        </p:blipFill>
        <p:spPr>
          <a:xfrm>
            <a:off x="2226255" y="1825625"/>
            <a:ext cx="7739489" cy="4351338"/>
          </a:xfrm>
          <a:prstGeom prst="rect">
            <a:avLst/>
          </a:prstGeom>
        </p:spPr>
      </p:pic>
    </p:spTree>
    <p:extLst>
      <p:ext uri="{BB962C8B-B14F-4D97-AF65-F5344CB8AC3E}">
        <p14:creationId xmlns:p14="http://schemas.microsoft.com/office/powerpoint/2010/main" val="3824637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DB2B6-D460-4EB1-A933-5B4E42A7E321}"/>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32E93113-3F31-4D9A-B6BC-1919833D5143}"/>
              </a:ext>
            </a:extLst>
          </p:cNvPr>
          <p:cNvPicPr>
            <a:picLocks noGrp="1" noChangeAspect="1"/>
          </p:cNvPicPr>
          <p:nvPr>
            <p:ph idx="1"/>
          </p:nvPr>
        </p:nvPicPr>
        <p:blipFill>
          <a:blip r:embed="rId2"/>
          <a:stretch>
            <a:fillRect/>
          </a:stretch>
        </p:blipFill>
        <p:spPr>
          <a:xfrm>
            <a:off x="231201" y="1839480"/>
            <a:ext cx="7739489" cy="4351338"/>
          </a:xfrm>
          <a:prstGeom prst="rect">
            <a:avLst/>
          </a:prstGeom>
        </p:spPr>
      </p:pic>
      <p:sp>
        <p:nvSpPr>
          <p:cNvPr id="5" name="CuadroTexto 4">
            <a:extLst>
              <a:ext uri="{FF2B5EF4-FFF2-40B4-BE49-F238E27FC236}">
                <a16:creationId xmlns:a16="http://schemas.microsoft.com/office/drawing/2014/main" id="{EF7FAF5F-98EB-4C3A-A310-D11705BA21C2}"/>
              </a:ext>
            </a:extLst>
          </p:cNvPr>
          <p:cNvSpPr txBox="1"/>
          <p:nvPr/>
        </p:nvSpPr>
        <p:spPr>
          <a:xfrm>
            <a:off x="8146473" y="2008909"/>
            <a:ext cx="3657600" cy="5355312"/>
          </a:xfrm>
          <a:prstGeom prst="rect">
            <a:avLst/>
          </a:prstGeom>
          <a:noFill/>
        </p:spPr>
        <p:txBody>
          <a:bodyPr wrap="square" rtlCol="0">
            <a:spAutoFit/>
          </a:bodyPr>
          <a:lstStyle/>
          <a:p>
            <a:r>
              <a:rPr lang="es-MX" dirty="0"/>
              <a:t>La gráfica compara las ventas utilizadas para el entrenamiento con las 12 semanas reservadas para prueba y las predicciones generadas por el modelo ARIMA(0,1,2).</a:t>
            </a:r>
          </a:p>
          <a:p>
            <a:r>
              <a:rPr lang="es-MX" dirty="0"/>
              <a:t>Se observa que el modelo logra aproximarse al nivel general de ventas de </a:t>
            </a:r>
            <a:r>
              <a:rPr lang="es-MX" dirty="0" err="1"/>
              <a:t>Vanish</a:t>
            </a:r>
            <a:r>
              <a:rPr lang="es-MX" dirty="0"/>
              <a:t>; sin embargo, las predicciones permanecen prácticamente constantes alrededor de 27,250. Por esta razón, el modelo no logra reproducir completamente las fluctuaciones ni los picos presentes en las ventas reales.</a:t>
            </a:r>
          </a:p>
          <a:p>
            <a:r>
              <a:rPr lang="es-MX" dirty="0"/>
              <a:t>A pesar de esta limitación, el modelo obtuvo un MAPE aproximado de 11.49 % en el conjunto de prueba.</a:t>
            </a:r>
          </a:p>
          <a:p>
            <a:br>
              <a:rPr lang="es-MX" dirty="0"/>
            </a:br>
            <a:endParaRPr lang="es-MX" dirty="0"/>
          </a:p>
        </p:txBody>
      </p:sp>
    </p:spTree>
    <p:extLst>
      <p:ext uri="{BB962C8B-B14F-4D97-AF65-F5344CB8AC3E}">
        <p14:creationId xmlns:p14="http://schemas.microsoft.com/office/powerpoint/2010/main" val="24793169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DED84B-D1CA-42DB-BD1B-EEC2EC279550}"/>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3BC184DE-4595-4702-9AA4-535BE75F76C6}"/>
              </a:ext>
            </a:extLst>
          </p:cNvPr>
          <p:cNvPicPr>
            <a:picLocks noGrp="1" noChangeAspect="1"/>
          </p:cNvPicPr>
          <p:nvPr>
            <p:ph idx="1"/>
          </p:nvPr>
        </p:nvPicPr>
        <p:blipFill>
          <a:blip r:embed="rId2"/>
          <a:stretch>
            <a:fillRect/>
          </a:stretch>
        </p:blipFill>
        <p:spPr>
          <a:xfrm>
            <a:off x="217346" y="1867189"/>
            <a:ext cx="7739489" cy="4351338"/>
          </a:xfrm>
          <a:prstGeom prst="rect">
            <a:avLst/>
          </a:prstGeom>
        </p:spPr>
      </p:pic>
      <p:sp>
        <p:nvSpPr>
          <p:cNvPr id="5" name="CuadroTexto 4">
            <a:extLst>
              <a:ext uri="{FF2B5EF4-FFF2-40B4-BE49-F238E27FC236}">
                <a16:creationId xmlns:a16="http://schemas.microsoft.com/office/drawing/2014/main" id="{B6DE5139-4660-4810-8CEB-465F5751CDAC}"/>
              </a:ext>
            </a:extLst>
          </p:cNvPr>
          <p:cNvSpPr txBox="1"/>
          <p:nvPr/>
        </p:nvSpPr>
        <p:spPr>
          <a:xfrm>
            <a:off x="8077200" y="1867189"/>
            <a:ext cx="3699164" cy="4278094"/>
          </a:xfrm>
          <a:prstGeom prst="rect">
            <a:avLst/>
          </a:prstGeom>
          <a:noFill/>
        </p:spPr>
        <p:txBody>
          <a:bodyPr wrap="square" rtlCol="0">
            <a:spAutoFit/>
          </a:bodyPr>
          <a:lstStyle/>
          <a:p>
            <a:r>
              <a:rPr lang="es-MX" sz="1600" dirty="0"/>
              <a:t>La serie histórica de Lysol presenta una fuerte disminución en las ventas durante los primeros meses analizados, seguida de un periodo de mayor estabilidad.</a:t>
            </a:r>
          </a:p>
          <a:p>
            <a:r>
              <a:rPr lang="es-MX" sz="1600" dirty="0"/>
              <a:t>En las 12 semanas utilizadas como conjunto de prueba, el modelo ARIMA(0,1,2) genera predicciones relativamente constantes alrededor de 625. Aunque el modelo no reproduce completamente las fluctuaciones y algunos picos semanales, las predicciones se mantienen próximas al nivel general de las ventas reales.</a:t>
            </a:r>
          </a:p>
          <a:p>
            <a:r>
              <a:rPr lang="es-MX" sz="1600" dirty="0"/>
              <a:t>El modelo obtuvo un MAPE aproximado de 6.57 %, mostrando un mejor desempeño predictivo que el modelo utilizado para </a:t>
            </a:r>
            <a:r>
              <a:rPr lang="es-MX" sz="1600" dirty="0" err="1"/>
              <a:t>Vanish</a:t>
            </a:r>
            <a:r>
              <a:rPr lang="es-MX" sz="1600" dirty="0"/>
              <a:t>.</a:t>
            </a:r>
          </a:p>
        </p:txBody>
      </p:sp>
    </p:spTree>
    <p:extLst>
      <p:ext uri="{BB962C8B-B14F-4D97-AF65-F5344CB8AC3E}">
        <p14:creationId xmlns:p14="http://schemas.microsoft.com/office/powerpoint/2010/main" val="3176651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C7B933-69A0-4B55-B006-2162BD8ABA7A}"/>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27BBAE50-519D-4FB1-A7FD-959AF6003FBC}"/>
              </a:ext>
            </a:extLst>
          </p:cNvPr>
          <p:cNvPicPr>
            <a:picLocks noGrp="1" noChangeAspect="1"/>
          </p:cNvPicPr>
          <p:nvPr>
            <p:ph idx="1"/>
          </p:nvPr>
        </p:nvPicPr>
        <p:blipFill>
          <a:blip r:embed="rId2"/>
          <a:stretch>
            <a:fillRect/>
          </a:stretch>
        </p:blipFill>
        <p:spPr>
          <a:xfrm>
            <a:off x="120364" y="1867189"/>
            <a:ext cx="7739489" cy="4351338"/>
          </a:xfrm>
          <a:prstGeom prst="rect">
            <a:avLst/>
          </a:prstGeom>
        </p:spPr>
      </p:pic>
      <p:sp>
        <p:nvSpPr>
          <p:cNvPr id="5" name="CuadroTexto 4">
            <a:extLst>
              <a:ext uri="{FF2B5EF4-FFF2-40B4-BE49-F238E27FC236}">
                <a16:creationId xmlns:a16="http://schemas.microsoft.com/office/drawing/2014/main" id="{7DF1C73F-7964-4284-9244-910485EF80A6}"/>
              </a:ext>
            </a:extLst>
          </p:cNvPr>
          <p:cNvSpPr txBox="1"/>
          <p:nvPr/>
        </p:nvSpPr>
        <p:spPr>
          <a:xfrm>
            <a:off x="8077199" y="1867189"/>
            <a:ext cx="3796145" cy="3970318"/>
          </a:xfrm>
          <a:prstGeom prst="rect">
            <a:avLst/>
          </a:prstGeom>
          <a:noFill/>
        </p:spPr>
        <p:txBody>
          <a:bodyPr wrap="square" rtlCol="0">
            <a:spAutoFit/>
          </a:bodyPr>
          <a:lstStyle/>
          <a:p>
            <a:r>
              <a:rPr lang="es-MX"/>
              <a:t>Pronóstico futuro de Vanish</a:t>
            </a:r>
          </a:p>
          <a:p>
            <a:r>
              <a:rPr lang="es-MX"/>
              <a:t>Una vez seleccionado y validado el modelo ARIMA(0,1,2), se realizó un nuevo ajuste utilizando las 80 semanas disponibles y se generaron pronósticos futuros.</a:t>
            </a:r>
          </a:p>
          <a:p>
            <a:r>
              <a:rPr lang="es-MX"/>
              <a:t>Las predicciones semanales tienden a estabilizarse alrededor de 31,071 en valor de ventas. Este comportamiento indica que el modelo estima adecuadamente un nivel general de ventas, aunque presenta una capacidad limitada para anticipar fluctuaciones o picos semanales.</a:t>
            </a:r>
          </a:p>
        </p:txBody>
      </p:sp>
    </p:spTree>
    <p:extLst>
      <p:ext uri="{BB962C8B-B14F-4D97-AF65-F5344CB8AC3E}">
        <p14:creationId xmlns:p14="http://schemas.microsoft.com/office/powerpoint/2010/main" val="94086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B42558-A5BC-4580-8EBD-6856AF753C13}"/>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409A54B3-4F77-43DA-834B-A46F621E4025}"/>
              </a:ext>
            </a:extLst>
          </p:cNvPr>
          <p:cNvPicPr>
            <a:picLocks noGrp="1" noChangeAspect="1"/>
          </p:cNvPicPr>
          <p:nvPr>
            <p:ph idx="1"/>
          </p:nvPr>
        </p:nvPicPr>
        <p:blipFill>
          <a:blip r:embed="rId2"/>
          <a:stretch>
            <a:fillRect/>
          </a:stretch>
        </p:blipFill>
        <p:spPr>
          <a:xfrm>
            <a:off x="272764" y="1843088"/>
            <a:ext cx="7739489" cy="4351338"/>
          </a:xfrm>
          <a:prstGeom prst="rect">
            <a:avLst/>
          </a:prstGeom>
        </p:spPr>
      </p:pic>
      <p:sp>
        <p:nvSpPr>
          <p:cNvPr id="5" name="CuadroTexto 4">
            <a:extLst>
              <a:ext uri="{FF2B5EF4-FFF2-40B4-BE49-F238E27FC236}">
                <a16:creationId xmlns:a16="http://schemas.microsoft.com/office/drawing/2014/main" id="{9CD6AEE7-7417-467F-B0A6-A6725C8A8C45}"/>
              </a:ext>
            </a:extLst>
          </p:cNvPr>
          <p:cNvSpPr txBox="1"/>
          <p:nvPr/>
        </p:nvSpPr>
        <p:spPr>
          <a:xfrm>
            <a:off x="8257309" y="1912144"/>
            <a:ext cx="3661927" cy="5078313"/>
          </a:xfrm>
          <a:prstGeom prst="rect">
            <a:avLst/>
          </a:prstGeom>
          <a:noFill/>
        </p:spPr>
        <p:txBody>
          <a:bodyPr wrap="square" rtlCol="0">
            <a:spAutoFit/>
          </a:bodyPr>
          <a:lstStyle/>
          <a:p>
            <a:r>
              <a:rPr lang="es-MX"/>
              <a:t>Pronóstico futuro de Lysol</a:t>
            </a:r>
          </a:p>
          <a:p>
            <a:r>
              <a:rPr lang="es-MX"/>
              <a:t>El modelo ARIMA(0,1,2), reentrenado con las 80 semanas disponibles, genera un pronóstico semanal que se estabiliza alrededor de 680 en valor de ventas.</a:t>
            </a:r>
          </a:p>
          <a:p>
            <a:r>
              <a:rPr lang="es-MX"/>
              <a:t>Al agregar las predicciones por mes, se obtienen valores aproximados de 2,720 para agosto y septiembre y 3,400 para octubre. El mayor valor de octubre se debe a que contiene cinco observaciones semanales dentro del horizonte de pronóstico, por lo que no debe interpretarse directamente como un crecimiento de las ventas.</a:t>
            </a:r>
          </a:p>
          <a:p>
            <a:br>
              <a:rPr lang="es-MX"/>
            </a:br>
            <a:endParaRPr lang="es-MX" dirty="0"/>
          </a:p>
        </p:txBody>
      </p:sp>
    </p:spTree>
    <p:extLst>
      <p:ext uri="{BB962C8B-B14F-4D97-AF65-F5344CB8AC3E}">
        <p14:creationId xmlns:p14="http://schemas.microsoft.com/office/powerpoint/2010/main" val="15749334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A52667-5E3C-4FA0-BB69-5DEC8731AB9A}"/>
              </a:ext>
            </a:extLst>
          </p:cNvPr>
          <p:cNvSpPr>
            <a:spLocks noGrp="1"/>
          </p:cNvSpPr>
          <p:nvPr>
            <p:ph type="title"/>
          </p:nvPr>
        </p:nvSpPr>
        <p:spPr/>
        <p:txBody>
          <a:bodyPr/>
          <a:lstStyle/>
          <a:p>
            <a:pPr algn="ctr"/>
            <a:r>
              <a:rPr lang="es-MX" sz="2800" dirty="0"/>
              <a:t>Conclusiones y recomendaciones</a:t>
            </a:r>
            <a:br>
              <a:rPr lang="es-MX" dirty="0"/>
            </a:br>
            <a:endParaRPr lang="es-MX" dirty="0"/>
          </a:p>
        </p:txBody>
      </p:sp>
      <p:sp>
        <p:nvSpPr>
          <p:cNvPr id="3" name="Marcador de contenido 2">
            <a:extLst>
              <a:ext uri="{FF2B5EF4-FFF2-40B4-BE49-F238E27FC236}">
                <a16:creationId xmlns:a16="http://schemas.microsoft.com/office/drawing/2014/main" id="{036BE750-6DD3-485E-BCED-77B8D4EEFC26}"/>
              </a:ext>
            </a:extLst>
          </p:cNvPr>
          <p:cNvSpPr>
            <a:spLocks noGrp="1"/>
          </p:cNvSpPr>
          <p:nvPr>
            <p:ph idx="1"/>
          </p:nvPr>
        </p:nvSpPr>
        <p:spPr/>
        <p:txBody>
          <a:bodyPr>
            <a:normAutofit fontScale="55000" lnSpcReduction="20000"/>
          </a:bodyPr>
          <a:lstStyle/>
          <a:p>
            <a:r>
              <a:rPr lang="es-MX" dirty="0"/>
              <a:t>El análisis permitió estudiar el comportamiento de las ventas mediante diferentes técnicas de análisis de datos y modelado predictivo.</a:t>
            </a:r>
          </a:p>
          <a:p>
            <a:r>
              <a:rPr lang="es-MX" dirty="0"/>
              <a:t>Durante el análisis exploratorio se identificó una distribución de ventas con sesgo hacia la derecha y presencia de valores atípicos. También se observaron diferencias en el desempeño de los distintos formatos y regiones, destacando el Área 2 por el mayor valor acumulado de ventas.</a:t>
            </a:r>
          </a:p>
          <a:p>
            <a:r>
              <a:rPr lang="es-MX" dirty="0"/>
              <a:t>Mediante K-</a:t>
            </a:r>
            <a:r>
              <a:rPr lang="es-MX" dirty="0" err="1"/>
              <a:t>Means</a:t>
            </a:r>
            <a:r>
              <a:rPr lang="es-MX" dirty="0"/>
              <a:t> se identificaron tres grupos de productos con niveles de desempeño bajo, intermedio y alto. Un hallazgo relevante fue que el </a:t>
            </a:r>
            <a:r>
              <a:rPr lang="es-MX" dirty="0" err="1"/>
              <a:t>cluster</a:t>
            </a:r>
            <a:r>
              <a:rPr lang="es-MX" dirty="0"/>
              <a:t> de alto desempeño está compuesto únicamente por tres presentaciones de CLORALEX EL RENDIDOR, las cuales concentran aproximadamente el 26.67% del valor total de las ventas analizadas. Esto permite identificar productos estratégicos dentro del portafolio comercial.</a:t>
            </a:r>
          </a:p>
          <a:p>
            <a:r>
              <a:rPr lang="es-MX" dirty="0"/>
              <a:t>El modelo de Regresión Lineal Múltiple obtuvo un R² de 0.8311, indicando una buena capacidad para explicar la variabilidad del valor de las ventas a partir de las variables utilizadas. El modelo presentó un MAE de 45.30 y un RMSE de 144.46, observándose mayores errores en algunas ventas de valor elevado.</a:t>
            </a:r>
          </a:p>
          <a:p>
            <a:r>
              <a:rPr lang="es-MX" dirty="0"/>
              <a:t>Para el pronóstico de ventas futuras se utilizaron modelos ARIMA. Tanto para </a:t>
            </a:r>
            <a:r>
              <a:rPr lang="es-MX" dirty="0" err="1"/>
              <a:t>Vanish</a:t>
            </a:r>
            <a:r>
              <a:rPr lang="es-MX" dirty="0"/>
              <a:t> como para Lysol se seleccionó un modelo ARIMA(0,1,2). Durante la validación, </a:t>
            </a:r>
            <a:r>
              <a:rPr lang="es-MX" dirty="0" err="1"/>
              <a:t>Vanish</a:t>
            </a:r>
            <a:r>
              <a:rPr lang="es-MX" dirty="0"/>
              <a:t> obtuvo un MAPE aproximado de 11.49%, mientras que Lysol obtuvo un MAPE de 6.57%, mostrando este último una mayor precisión relativa.</a:t>
            </a:r>
          </a:p>
          <a:p>
            <a:r>
              <a:rPr lang="es-MX" dirty="0"/>
              <a:t>Los resultados obtenidos pueden apoyar decisiones relacionadas con la planeación de ventas, inventarios y priorización de productos. Se recomienda prestar especial atención a los productos identificados como de alto desempeño y actualizar periódicamente los modelos predictivos conforme se incorporen nuevos datos.</a:t>
            </a:r>
          </a:p>
          <a:p>
            <a:r>
              <a:rPr lang="es-MX" dirty="0"/>
              <a:t>Como mejora futura, podrían incorporarse variables adicionales como precios, promociones, temporadas comerciales o inversión publicitaria. Estas variables podrían ayudar a explicar fluctuaciones que los modelos basados principalmente en el comportamiento histórico y las variables actualmente disponibles no logran anticipar.</a:t>
            </a:r>
          </a:p>
          <a:p>
            <a:endParaRPr lang="es-MX" dirty="0"/>
          </a:p>
        </p:txBody>
      </p:sp>
    </p:spTree>
    <p:extLst>
      <p:ext uri="{BB962C8B-B14F-4D97-AF65-F5344CB8AC3E}">
        <p14:creationId xmlns:p14="http://schemas.microsoft.com/office/powerpoint/2010/main" val="1169948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DBC6C0-260C-4EBA-8F8B-0A6A607C6683}"/>
              </a:ext>
            </a:extLst>
          </p:cNvPr>
          <p:cNvSpPr>
            <a:spLocks noGrp="1"/>
          </p:cNvSpPr>
          <p:nvPr>
            <p:ph type="title"/>
          </p:nvPr>
        </p:nvSpPr>
        <p:spPr/>
        <p:txBody>
          <a:bodyPr>
            <a:normAutofit/>
          </a:bodyPr>
          <a:lstStyle/>
          <a:p>
            <a:pPr algn="ctr"/>
            <a:r>
              <a:rPr lang="es-MX" sz="2800" dirty="0" err="1"/>
              <a:t>Dashboard</a:t>
            </a:r>
            <a:r>
              <a:rPr lang="es-MX" sz="2800" dirty="0"/>
              <a:t> interactivo de ventas</a:t>
            </a:r>
          </a:p>
        </p:txBody>
      </p:sp>
      <p:sp>
        <p:nvSpPr>
          <p:cNvPr id="3" name="Marcador de contenido 2">
            <a:extLst>
              <a:ext uri="{FF2B5EF4-FFF2-40B4-BE49-F238E27FC236}">
                <a16:creationId xmlns:a16="http://schemas.microsoft.com/office/drawing/2014/main" id="{7791CD61-DACF-4D74-BF8D-04EB5690AA11}"/>
              </a:ext>
            </a:extLst>
          </p:cNvPr>
          <p:cNvSpPr>
            <a:spLocks noGrp="1"/>
          </p:cNvSpPr>
          <p:nvPr>
            <p:ph idx="1"/>
          </p:nvPr>
        </p:nvSpPr>
        <p:spPr/>
        <p:txBody>
          <a:bodyPr/>
          <a:lstStyle/>
          <a:p>
            <a:pPr marL="0" indent="0" algn="just">
              <a:buNone/>
            </a:pPr>
            <a:r>
              <a:rPr lang="es-MX" sz="2000" dirty="0"/>
              <a:t>Como etapa final del análisis, se desarrolló un </a:t>
            </a:r>
            <a:r>
              <a:rPr lang="es-MX" sz="2000" dirty="0" err="1"/>
              <a:t>dashboard</a:t>
            </a:r>
            <a:r>
              <a:rPr lang="es-MX" sz="2000" dirty="0"/>
              <a:t> interactivo en </a:t>
            </a:r>
            <a:r>
              <a:rPr lang="es-MX" sz="2000" dirty="0" err="1"/>
              <a:t>Power</a:t>
            </a:r>
            <a:r>
              <a:rPr lang="es-MX" sz="2000" dirty="0"/>
              <a:t> BI con el propósito de integrar y visualizar los principales indicadores de ventas. El tablero permite analizar el desempeño por marca, segmento, región y periodo, además de consultar las ventas y unidades comercializadas.</a:t>
            </a:r>
          </a:p>
          <a:p>
            <a:pPr marL="0" indent="0" algn="just">
              <a:buNone/>
            </a:pPr>
            <a:r>
              <a:rPr lang="es-MX" sz="2000" dirty="0"/>
              <a:t>Mediante los filtros interactivos es posible explorar la información desde diferentes perspectivas y facilitar la identificación de tendencias y patrones relevantes para la toma de decisiones.</a:t>
            </a:r>
          </a:p>
          <a:p>
            <a:pPr marL="0" indent="0">
              <a:buNone/>
            </a:pPr>
            <a:endParaRPr lang="es-MX" dirty="0"/>
          </a:p>
        </p:txBody>
      </p:sp>
    </p:spTree>
    <p:extLst>
      <p:ext uri="{BB962C8B-B14F-4D97-AF65-F5344CB8AC3E}">
        <p14:creationId xmlns:p14="http://schemas.microsoft.com/office/powerpoint/2010/main" val="2957202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F2204DC5-5C08-43EB-87DA-D88009F8ECD6}"/>
              </a:ext>
            </a:extLst>
          </p:cNvPr>
          <p:cNvPicPr>
            <a:picLocks noGrp="1" noChangeAspect="1"/>
          </p:cNvPicPr>
          <p:nvPr>
            <p:ph idx="1"/>
          </p:nvPr>
        </p:nvPicPr>
        <p:blipFill rotWithShape="1">
          <a:blip r:embed="rId2"/>
          <a:srcRect l="15994" t="21944" r="20537" b="13877"/>
          <a:stretch/>
        </p:blipFill>
        <p:spPr>
          <a:xfrm>
            <a:off x="549300" y="475776"/>
            <a:ext cx="11033099" cy="6272398"/>
          </a:xfrm>
          <a:prstGeom prst="rect">
            <a:avLst/>
          </a:prstGeom>
        </p:spPr>
      </p:pic>
    </p:spTree>
    <p:extLst>
      <p:ext uri="{BB962C8B-B14F-4D97-AF65-F5344CB8AC3E}">
        <p14:creationId xmlns:p14="http://schemas.microsoft.com/office/powerpoint/2010/main" val="330921027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2069</Words>
  <Application>Microsoft Office PowerPoint</Application>
  <PresentationFormat>Panorámica</PresentationFormat>
  <Paragraphs>77</Paragraphs>
  <Slides>33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33</vt:i4>
      </vt:variant>
    </vt:vector>
  </HeadingPairs>
  <TitlesOfParts>
    <vt:vector size="37" baseType="lpstr">
      <vt:lpstr>Arial</vt:lpstr>
      <vt:lpstr>Calibri</vt:lpstr>
      <vt:lpstr>Calibri Light</vt:lpstr>
      <vt:lpstr>Tema de Office</vt:lpstr>
      <vt:lpstr>Proyecto de empresa aliada: Entrega Final</vt:lpstr>
      <vt:lpstr>Presentación de PowerPoint</vt:lpstr>
      <vt:lpstr>Análisis de ventas por marca en SQL</vt:lpstr>
      <vt:lpstr>Análisis de ventas por región en SQL</vt:lpstr>
      <vt:lpstr>Evolución mensual de las ventas en SQL</vt:lpstr>
      <vt:lpstr>Análisis de ventas por segmento en SQL</vt:lpstr>
      <vt:lpstr>Jupyter Notebook</vt:lpstr>
      <vt:lpstr>Análisis Exploratorio de Datos (EDA)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Segmentación mediante K-Means </vt:lpstr>
      <vt:lpstr>Presentación de PowerPoint</vt:lpstr>
      <vt:lpstr>Presentación de PowerPoint</vt:lpstr>
      <vt:lpstr>Presentación de PowerPoint</vt:lpstr>
      <vt:lpstr>Presentación de PowerPoint</vt:lpstr>
      <vt:lpstr>Regresión Lineal Múltiple </vt:lpstr>
      <vt:lpstr>Presentación de PowerPoint</vt:lpstr>
      <vt:lpstr>Presentación de PowerPoint</vt:lpstr>
      <vt:lpstr>Selección de parámetros ARIMA </vt:lpstr>
      <vt:lpstr>Presentación de PowerPoint</vt:lpstr>
      <vt:lpstr>Presentación de PowerPoint</vt:lpstr>
      <vt:lpstr>Presentación de PowerPoint</vt:lpstr>
      <vt:lpstr>Presentación de PowerPoint</vt:lpstr>
      <vt:lpstr>Presentación de PowerPoint</vt:lpstr>
      <vt:lpstr>Presentación de PowerPoint</vt:lpstr>
      <vt:lpstr>Conclusiones y recomendaciones </vt:lpstr>
      <vt:lpstr>Dashboard interactivo de ventas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de empresa aliada: Entrega Final</dc:title>
  <dc:creator>armando ...</dc:creator>
  <cp:lastModifiedBy>armando ...</cp:lastModifiedBy>
  <cp:revision>9</cp:revision>
  <dcterms:created xsi:type="dcterms:W3CDTF">2026-09-13T13:36:12Z</dcterms:created>
  <dcterms:modified xsi:type="dcterms:W3CDTF">2026-09-15T03:46:41Z</dcterms:modified>
</cp:coreProperties>
</file>